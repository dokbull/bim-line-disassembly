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41" autoAdjust="0"/>
  </p:normalViewPr>
  <p:slideViewPr>
    <p:cSldViewPr snapToGrid="0">
      <p:cViewPr varScale="1">
        <p:scale>
          <a:sx n="112" d="100"/>
          <a:sy n="112" d="100"/>
        </p:scale>
        <p:origin x="5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F3A1B-A271-4EAA-8E64-783DFD5ACC3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60859-0B10-48A2-9900-D8631196A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22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460859-0B10-48A2-9900-D8631196AD6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433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425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62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778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076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08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96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28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901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81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354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36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90A18-8ED3-4457-9EA7-236308810AC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F2055-953D-467A-98DB-6A6BC0E97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93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82321" y="237594"/>
            <a:ext cx="11171607" cy="1954636"/>
            <a:chOff x="-60960" y="-42723"/>
            <a:chExt cx="6918960" cy="146400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66" y="-42723"/>
              <a:ext cx="6825134" cy="146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-60960" y="350521"/>
              <a:ext cx="754380" cy="13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 smtClean="0">
                  <a:latin typeface="+mn-ea"/>
                </a:rPr>
                <a:t>1. Dot Dispenser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6230" y="1188020"/>
              <a:ext cx="502920" cy="13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 smtClean="0">
                  <a:latin typeface="+mn-ea"/>
                </a:rPr>
                <a:t>2. </a:t>
              </a:r>
              <a:r>
                <a:rPr lang="ko-KR" altLang="en-US" sz="600" b="1" dirty="0" err="1" smtClean="0">
                  <a:latin typeface="+mn-ea"/>
                </a:rPr>
                <a:t>조립기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74030" y="965254"/>
              <a:ext cx="502920" cy="13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 smtClean="0">
                  <a:latin typeface="+mn-ea"/>
                </a:rPr>
                <a:t>6. </a:t>
              </a:r>
              <a:r>
                <a:rPr lang="ko-KR" altLang="en-US" sz="600" b="1" dirty="0" err="1" smtClean="0">
                  <a:latin typeface="+mn-ea"/>
                </a:rPr>
                <a:t>해체기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62385" y="200444"/>
              <a:ext cx="1398270" cy="13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 smtClean="0">
                  <a:latin typeface="+mn-ea"/>
                </a:rPr>
                <a:t>3. </a:t>
              </a:r>
              <a:r>
                <a:rPr lang="ko-KR" altLang="en-US" sz="600" b="1" dirty="0" err="1" smtClean="0">
                  <a:latin typeface="+mn-ea"/>
                </a:rPr>
                <a:t>몰드</a:t>
              </a:r>
              <a:r>
                <a:rPr lang="ko-KR" altLang="en-US" sz="600" b="1" dirty="0" smtClean="0">
                  <a:latin typeface="+mn-ea"/>
                </a:rPr>
                <a:t> </a:t>
              </a:r>
              <a:r>
                <a:rPr lang="ko-KR" altLang="en-US" sz="600" b="1" dirty="0" err="1" smtClean="0">
                  <a:latin typeface="+mn-ea"/>
                </a:rPr>
                <a:t>주입기</a:t>
              </a:r>
              <a:r>
                <a:rPr lang="ko-KR" altLang="en-US" sz="600" b="1" dirty="0" smtClean="0">
                  <a:latin typeface="+mn-ea"/>
                </a:rPr>
                <a:t> </a:t>
              </a:r>
              <a:r>
                <a:rPr lang="en-US" altLang="ko-KR" sz="600" b="1" dirty="0" smtClean="0">
                  <a:latin typeface="+mn-ea"/>
                </a:rPr>
                <a:t>(2 Panel </a:t>
              </a:r>
              <a:r>
                <a:rPr lang="ko-KR" altLang="en-US" sz="600" b="1" dirty="0" smtClean="0">
                  <a:latin typeface="+mn-ea"/>
                </a:rPr>
                <a:t>동시 작업</a:t>
              </a:r>
              <a:r>
                <a:rPr lang="en-US" altLang="ko-KR" sz="600" b="1" dirty="0" smtClean="0">
                  <a:latin typeface="+mn-ea"/>
                </a:rPr>
                <a:t>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33923" y="1034727"/>
              <a:ext cx="44434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b="1" smtClean="0">
                  <a:latin typeface="+mn-ea"/>
                </a:rPr>
                <a:t>투입기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51212" y="998544"/>
              <a:ext cx="607515" cy="207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(TWO</a:t>
              </a:r>
              <a:r>
                <a:rPr lang="en-US" altLang="ko-KR" sz="600" b="1" dirty="0" smtClean="0">
                  <a:latin typeface="+mn-ea"/>
                </a:rPr>
                <a:t>)</a:t>
              </a:r>
            </a:p>
            <a:p>
              <a:pPr algn="ctr"/>
              <a:r>
                <a:rPr lang="ko-KR" altLang="en-US" sz="600" b="1" dirty="0" smtClean="0">
                  <a:latin typeface="+mn-ea"/>
                </a:rPr>
                <a:t>투입</a:t>
              </a:r>
              <a:r>
                <a:rPr lang="en-US" altLang="ko-KR" sz="600" b="1" dirty="0" smtClean="0">
                  <a:latin typeface="+mn-ea"/>
                </a:rPr>
                <a:t>/</a:t>
              </a:r>
              <a:r>
                <a:rPr lang="ko-KR" altLang="en-US" sz="600" b="1" dirty="0" smtClean="0">
                  <a:latin typeface="+mn-ea"/>
                </a:rPr>
                <a:t>배출기</a:t>
              </a:r>
              <a:endParaRPr lang="en-US" altLang="ko-KR" sz="600" b="1" dirty="0" smtClean="0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12240" y="317203"/>
              <a:ext cx="475337" cy="140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 smtClean="0">
                  <a:latin typeface="+mn-ea"/>
                </a:rPr>
                <a:t>8. </a:t>
              </a:r>
              <a:r>
                <a:rPr lang="ko-KR" altLang="en-US" sz="600" b="1" dirty="0" smtClean="0">
                  <a:latin typeface="+mn-ea"/>
                </a:rPr>
                <a:t>치수 검사기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153587" y="1138918"/>
              <a:ext cx="607515" cy="13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 smtClean="0">
                  <a:latin typeface="+mn-ea"/>
                </a:rPr>
                <a:t>4. UV </a:t>
              </a:r>
              <a:r>
                <a:rPr lang="ko-KR" altLang="en-US" sz="600" b="1" dirty="0" smtClean="0">
                  <a:latin typeface="+mn-ea"/>
                </a:rPr>
                <a:t>경화기 </a:t>
              </a:r>
              <a:r>
                <a:rPr lang="en-US" altLang="ko-KR" sz="600" b="1" dirty="0" smtClean="0">
                  <a:latin typeface="+mn-ea"/>
                </a:rPr>
                <a:t>(PLC)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59959" y="1055347"/>
              <a:ext cx="607515" cy="13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 smtClean="0">
                  <a:latin typeface="+mn-ea"/>
                </a:rPr>
                <a:t>7. </a:t>
              </a:r>
              <a:r>
                <a:rPr lang="ko-KR" altLang="en-US" sz="600" b="1" dirty="0" smtClean="0">
                  <a:latin typeface="+mn-ea"/>
                </a:rPr>
                <a:t>경화기 </a:t>
              </a:r>
              <a:r>
                <a:rPr lang="en-US" altLang="ko-KR" sz="600" b="1" dirty="0" smtClean="0">
                  <a:latin typeface="+mn-ea"/>
                </a:rPr>
                <a:t>(PLC)</a:t>
              </a:r>
              <a:endParaRPr lang="ko-KR" altLang="en-US" sz="600" b="1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11273750" y="1026623"/>
            <a:ext cx="508856" cy="33835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1273750" y="1532460"/>
            <a:ext cx="508856" cy="33835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02611" y="784878"/>
            <a:ext cx="102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b="1" dirty="0" smtClean="0">
                <a:latin typeface="+mn-ea"/>
              </a:rPr>
              <a:t>9. </a:t>
            </a:r>
            <a:r>
              <a:rPr lang="ko-KR" altLang="en-US" sz="600" b="1" dirty="0" smtClean="0">
                <a:latin typeface="+mn-ea"/>
              </a:rPr>
              <a:t>방수 검사기</a:t>
            </a:r>
            <a:r>
              <a:rPr lang="en-US" altLang="ko-KR" sz="600" b="1" dirty="0" smtClean="0">
                <a:latin typeface="+mn-ea"/>
              </a:rPr>
              <a:t/>
            </a:r>
            <a:br>
              <a:rPr lang="en-US" altLang="ko-KR" sz="600" b="1" dirty="0" smtClean="0">
                <a:latin typeface="+mn-ea"/>
              </a:rPr>
            </a:br>
            <a:r>
              <a:rPr lang="en-US" altLang="ko-KR" sz="600" b="1" dirty="0" smtClean="0">
                <a:latin typeface="+mn-ea"/>
              </a:rPr>
              <a:t>(WIN CE)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48982" y="3324904"/>
            <a:ext cx="1055511" cy="478422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디스펜서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49487" y="1642275"/>
            <a:ext cx="9809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b="1" dirty="0" smtClean="0">
                <a:latin typeface="+mn-ea"/>
              </a:rPr>
              <a:t>5. COOLING 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2015113" y="3323313"/>
            <a:ext cx="1054800" cy="478422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조립기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3327456" y="3849115"/>
            <a:ext cx="1054800" cy="3492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배출기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6215961" y="5061452"/>
            <a:ext cx="1055511" cy="47842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방수 검사기 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#1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1282497" y="4103888"/>
            <a:ext cx="1055511" cy="478422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EQ1 CIM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4114938" y="4306343"/>
            <a:ext cx="1058400" cy="3600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EQ2 CIM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6995079" y="4301413"/>
            <a:ext cx="1058879" cy="3600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EQ3 CIM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7696346" y="5061452"/>
            <a:ext cx="1045765" cy="47842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방수 검사기 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</a:t>
            </a:r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9885920" y="4306343"/>
            <a:ext cx="1058400" cy="3600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EQ4 CIM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1290327" y="5905765"/>
            <a:ext cx="1047681" cy="478422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EQ5 CIM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104821" y="5931109"/>
            <a:ext cx="1045764" cy="478422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EQ6 CIM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8485369" y="5833071"/>
            <a:ext cx="1045764" cy="478422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EQ7 CIM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0972" y="2231698"/>
            <a:ext cx="5915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/>
              <a:t>* EQ ID : </a:t>
            </a:r>
            <a:r>
              <a:rPr lang="ko-KR" altLang="en-US" sz="900" b="1" dirty="0" smtClean="0"/>
              <a:t>총 </a:t>
            </a:r>
            <a:r>
              <a:rPr lang="en-US" altLang="ko-KR" sz="900" b="1" dirty="0" smtClean="0"/>
              <a:t>14ea</a:t>
            </a:r>
          </a:p>
          <a:p>
            <a:r>
              <a:rPr lang="en-US" altLang="ko-KR" sz="900" b="1" dirty="0" smtClean="0"/>
              <a:t>* CIM PC : 7ea ( CIM PC 1</a:t>
            </a:r>
            <a:r>
              <a:rPr lang="ko-KR" altLang="en-US" sz="900" b="1" dirty="0" smtClean="0"/>
              <a:t>대 </a:t>
            </a:r>
            <a:r>
              <a:rPr lang="en-US" altLang="ko-KR" sz="900" b="1" dirty="0" err="1" smtClean="0"/>
              <a:t>Mnet</a:t>
            </a:r>
            <a:r>
              <a:rPr lang="en-US" altLang="ko-KR" sz="900" b="1" dirty="0" smtClean="0"/>
              <a:t> B/D 2ea -&gt; 2</a:t>
            </a:r>
            <a:r>
              <a:rPr lang="ko-KR" altLang="en-US" sz="900" b="1" dirty="0" smtClean="0"/>
              <a:t>대의 </a:t>
            </a:r>
            <a:r>
              <a:rPr lang="en-US" altLang="ko-KR" sz="900" b="1" dirty="0" smtClean="0"/>
              <a:t>EQ ID </a:t>
            </a:r>
            <a:r>
              <a:rPr lang="ko-KR" altLang="en-US" sz="900" b="1" dirty="0" smtClean="0"/>
              <a:t>처리</a:t>
            </a:r>
            <a:r>
              <a:rPr lang="en-US" altLang="ko-KR" sz="900" b="1" dirty="0" smtClean="0"/>
              <a:t> ) </a:t>
            </a:r>
            <a:br>
              <a:rPr lang="en-US" altLang="ko-KR" sz="900" b="1" dirty="0" smtClean="0"/>
            </a:br>
            <a:r>
              <a:rPr lang="en-US" altLang="ko-KR" sz="900" b="1" dirty="0" smtClean="0"/>
              <a:t>* MELSEC NET BOARD </a:t>
            </a:r>
            <a:r>
              <a:rPr lang="en-US" altLang="ko-KR" sz="900" b="1" dirty="0"/>
              <a:t>[</a:t>
            </a:r>
            <a:r>
              <a:rPr lang="en-US" altLang="ko-KR" sz="900" b="1" dirty="0" smtClean="0"/>
              <a:t> Ctrl PC : 17ea , Ctrl PLC : 2ea,  CIM PC : 13ea ] : Total 32ea</a:t>
            </a:r>
          </a:p>
          <a:p>
            <a:r>
              <a:rPr lang="en-US" altLang="ko-KR" sz="900" b="1" dirty="0" smtClean="0"/>
              <a:t>       PC Card : Q81BD-J71GP21-SX ,  PLC Module : QJ71GP21_SX</a:t>
            </a:r>
          </a:p>
          <a:p>
            <a:r>
              <a:rPr lang="en-US" altLang="ko-KR" sz="900" b="1" dirty="0" smtClean="0">
                <a:solidFill>
                  <a:srgbClr val="FF0000"/>
                </a:solidFill>
              </a:rPr>
              <a:t>* </a:t>
            </a:r>
            <a:r>
              <a:rPr lang="ko-KR" altLang="en-US" sz="900" b="1" dirty="0" smtClean="0">
                <a:solidFill>
                  <a:srgbClr val="FF0000"/>
                </a:solidFill>
              </a:rPr>
              <a:t>방수 </a:t>
            </a:r>
            <a:r>
              <a:rPr lang="ko-KR" altLang="en-US" sz="900" b="1" dirty="0">
                <a:solidFill>
                  <a:srgbClr val="FF0000"/>
                </a:solidFill>
              </a:rPr>
              <a:t>검사기</a:t>
            </a:r>
            <a:r>
              <a:rPr lang="en-US" altLang="ko-KR" sz="900" b="1" dirty="0">
                <a:solidFill>
                  <a:srgbClr val="FF0000"/>
                </a:solidFill>
              </a:rPr>
              <a:t>(Win CE)</a:t>
            </a:r>
            <a:r>
              <a:rPr lang="ko-KR" altLang="en-US" sz="900" b="1" dirty="0">
                <a:solidFill>
                  <a:srgbClr val="FF0000"/>
                </a:solidFill>
              </a:rPr>
              <a:t> </a:t>
            </a:r>
            <a:r>
              <a:rPr lang="ko-KR" altLang="en-US" sz="900" b="1" dirty="0" smtClean="0">
                <a:solidFill>
                  <a:srgbClr val="FF0000"/>
                </a:solidFill>
              </a:rPr>
              <a:t>구성 </a:t>
            </a:r>
            <a:r>
              <a:rPr lang="en-US" altLang="ko-KR" sz="900" b="1" dirty="0" smtClean="0">
                <a:solidFill>
                  <a:srgbClr val="FF0000"/>
                </a:solidFill>
              </a:rPr>
              <a:t>:</a:t>
            </a:r>
            <a:r>
              <a:rPr lang="ko-KR" altLang="en-US" sz="9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900" b="1" dirty="0" smtClean="0">
                <a:solidFill>
                  <a:srgbClr val="FF0000"/>
                </a:solidFill>
              </a:rPr>
              <a:t>DMC - </a:t>
            </a:r>
            <a:r>
              <a:rPr lang="ko-KR" altLang="en-US" sz="900" b="1" dirty="0" smtClean="0">
                <a:solidFill>
                  <a:srgbClr val="FF0000"/>
                </a:solidFill>
              </a:rPr>
              <a:t>검사기 </a:t>
            </a:r>
            <a:r>
              <a:rPr lang="en-US" altLang="ko-KR" sz="900" b="1" dirty="0" smtClean="0">
                <a:solidFill>
                  <a:srgbClr val="FF0000"/>
                </a:solidFill>
              </a:rPr>
              <a:t>2ea &amp; </a:t>
            </a:r>
            <a:r>
              <a:rPr lang="en-US" altLang="ko-KR" sz="900" b="1" dirty="0">
                <a:solidFill>
                  <a:srgbClr val="FF0000"/>
                </a:solidFill>
              </a:rPr>
              <a:t>Middle PC </a:t>
            </a:r>
            <a:r>
              <a:rPr lang="en-US" altLang="ko-KR" sz="900" b="1" dirty="0" smtClean="0">
                <a:solidFill>
                  <a:srgbClr val="FF0000"/>
                </a:solidFill>
              </a:rPr>
              <a:t>&amp; CIM PC </a:t>
            </a:r>
            <a:r>
              <a:rPr lang="ko-KR" altLang="en-US" sz="900" b="1" dirty="0" smtClean="0">
                <a:solidFill>
                  <a:srgbClr val="FF0000"/>
                </a:solidFill>
              </a:rPr>
              <a:t>간 통신 </a:t>
            </a:r>
            <a:r>
              <a:rPr lang="en-US" altLang="ko-KR" sz="900" b="1" dirty="0" smtClean="0">
                <a:solidFill>
                  <a:srgbClr val="FF0000"/>
                </a:solidFill>
              </a:rPr>
              <a:t>S/W </a:t>
            </a:r>
            <a:r>
              <a:rPr lang="ko-KR" altLang="en-US" sz="900" b="1" dirty="0" smtClean="0">
                <a:solidFill>
                  <a:srgbClr val="FF0000"/>
                </a:solidFill>
              </a:rPr>
              <a:t>준비</a:t>
            </a:r>
            <a:r>
              <a:rPr lang="en-US" altLang="ko-KR" sz="900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900" b="1" dirty="0" smtClean="0">
                <a:solidFill>
                  <a:srgbClr val="FF0000"/>
                </a:solidFill>
              </a:rPr>
              <a:t>          </a:t>
            </a:r>
            <a:r>
              <a:rPr lang="en-US" altLang="ko-KR" sz="800" b="1" dirty="0" smtClean="0">
                <a:solidFill>
                  <a:srgbClr val="FF0000"/>
                </a:solidFill>
              </a:rPr>
              <a:t>       </a:t>
            </a:r>
            <a:r>
              <a:rPr lang="en-US" altLang="ko-KR" sz="900" b="1" dirty="0" smtClean="0">
                <a:solidFill>
                  <a:srgbClr val="FF0000"/>
                </a:solidFill>
              </a:rPr>
              <a:t>                     : TOP  - Middle PC 1ea</a:t>
            </a:r>
            <a:r>
              <a:rPr lang="en-US" altLang="ko-KR" sz="900" b="1" dirty="0">
                <a:solidFill>
                  <a:srgbClr val="FF0000"/>
                </a:solidFill>
              </a:rPr>
              <a:t>, MELSEC NET BOARD </a:t>
            </a:r>
            <a:r>
              <a:rPr lang="en-US" altLang="ko-KR" sz="900" b="1" dirty="0" smtClean="0">
                <a:solidFill>
                  <a:srgbClr val="FF0000"/>
                </a:solidFill>
              </a:rPr>
              <a:t>1ea H/W </a:t>
            </a:r>
            <a:r>
              <a:rPr lang="ko-KR" altLang="en-US" sz="900" b="1" dirty="0" smtClean="0">
                <a:solidFill>
                  <a:srgbClr val="FF0000"/>
                </a:solidFill>
              </a:rPr>
              <a:t>제공</a:t>
            </a:r>
            <a:r>
              <a:rPr lang="en-US" altLang="ko-KR" sz="900" b="1" dirty="0" smtClean="0">
                <a:solidFill>
                  <a:srgbClr val="FF0000"/>
                </a:solidFill>
              </a:rPr>
              <a:t>.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6970505" y="5833071"/>
            <a:ext cx="1045764" cy="478422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EQ CIM MIDDLE </a:t>
            </a:r>
            <a:b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위쪽/아래쪽 화살표 78"/>
          <p:cNvSpPr/>
          <p:nvPr/>
        </p:nvSpPr>
        <p:spPr>
          <a:xfrm rot="16200000">
            <a:off x="8172497" y="5855427"/>
            <a:ext cx="156645" cy="443050"/>
          </a:xfrm>
          <a:prstGeom prst="upDownArrow">
            <a:avLst>
              <a:gd name="adj1" fmla="val 33491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/>
          <p:cNvSpPr txBox="1"/>
          <p:nvPr/>
        </p:nvSpPr>
        <p:spPr>
          <a:xfrm>
            <a:off x="7849307" y="5663794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 smtClean="0"/>
              <a:t>MELSEC NET</a:t>
            </a:r>
            <a:br>
              <a:rPr lang="en-US" altLang="ko-KR" sz="800" b="1" dirty="0" smtClean="0"/>
            </a:br>
            <a:r>
              <a:rPr lang="ko-KR" altLang="en-US" sz="800" b="1" dirty="0" smtClean="0"/>
              <a:t>광케이블</a:t>
            </a:r>
            <a:endParaRPr lang="ko-KR" altLang="en-US" sz="800" b="1" dirty="0"/>
          </a:p>
        </p:txBody>
      </p:sp>
      <p:sp>
        <p:nvSpPr>
          <p:cNvPr id="83" name="모서리가 둥근 직사각형 82"/>
          <p:cNvSpPr/>
          <p:nvPr/>
        </p:nvSpPr>
        <p:spPr>
          <a:xfrm>
            <a:off x="3320056" y="3292951"/>
            <a:ext cx="1054800" cy="3486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주입기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3379159" y="5151056"/>
            <a:ext cx="1054800" cy="47842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UV </a:t>
            </a:r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경화기 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#2</a:t>
            </a:r>
          </a:p>
        </p:txBody>
      </p:sp>
      <p:sp>
        <p:nvSpPr>
          <p:cNvPr id="89" name="모서리가 둥근 직사각형 88"/>
          <p:cNvSpPr/>
          <p:nvPr/>
        </p:nvSpPr>
        <p:spPr>
          <a:xfrm>
            <a:off x="2014633" y="5151056"/>
            <a:ext cx="1055279" cy="478422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해체기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4836738" y="5146104"/>
            <a:ext cx="1054800" cy="483373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치수 검사기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551153" y="5151056"/>
            <a:ext cx="1053340" cy="478422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쿨링기</a:t>
            </a:r>
            <a:endParaRPr lang="en-US" altLang="ko-KR" sz="1000" b="1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497067" y="3165133"/>
            <a:ext cx="2605031" cy="1557098"/>
          </a:xfrm>
          <a:prstGeom prst="roundRect">
            <a:avLst>
              <a:gd name="adj" fmla="val 5397"/>
            </a:avLst>
          </a:prstGeom>
          <a:noFill/>
          <a:ln w="15875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3229761" y="3167861"/>
            <a:ext cx="2816931" cy="1557098"/>
          </a:xfrm>
          <a:prstGeom prst="roundRect">
            <a:avLst>
              <a:gd name="adj" fmla="val 5397"/>
            </a:avLst>
          </a:prstGeom>
          <a:noFill/>
          <a:ln w="15875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6112348" y="3165133"/>
            <a:ext cx="2818800" cy="1557098"/>
          </a:xfrm>
          <a:prstGeom prst="roundRect">
            <a:avLst>
              <a:gd name="adj" fmla="val 5397"/>
            </a:avLst>
          </a:prstGeom>
          <a:noFill/>
          <a:ln w="15875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8997666" y="3166667"/>
            <a:ext cx="2818800" cy="1557098"/>
          </a:xfrm>
          <a:prstGeom prst="roundRect">
            <a:avLst>
              <a:gd name="adj" fmla="val 5397"/>
            </a:avLst>
          </a:prstGeom>
          <a:noFill/>
          <a:ln w="15875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511651" y="4980950"/>
            <a:ext cx="2605031" cy="1557098"/>
          </a:xfrm>
          <a:prstGeom prst="roundRect">
            <a:avLst>
              <a:gd name="adj" fmla="val 5397"/>
            </a:avLst>
          </a:prstGeom>
          <a:noFill/>
          <a:ln w="15875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3332970" y="4989221"/>
            <a:ext cx="2605031" cy="1557098"/>
          </a:xfrm>
          <a:prstGeom prst="roundRect">
            <a:avLst>
              <a:gd name="adj" fmla="val 5397"/>
            </a:avLst>
          </a:prstGeom>
          <a:noFill/>
          <a:ln w="15875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6111958" y="4980950"/>
            <a:ext cx="3528291" cy="1565369"/>
          </a:xfrm>
          <a:prstGeom prst="roundRect">
            <a:avLst>
              <a:gd name="adj" fmla="val 5397"/>
            </a:avLst>
          </a:prstGeom>
          <a:noFill/>
          <a:ln w="15875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>
            <a:off x="258169" y="1541959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2</a:t>
            </a:r>
            <a:endParaRPr lang="ko-KR" altLang="en-US" sz="1000" b="1" dirty="0"/>
          </a:p>
        </p:txBody>
      </p:sp>
      <p:sp>
        <p:nvSpPr>
          <p:cNvPr id="115" name="타원 114"/>
          <p:cNvSpPr/>
          <p:nvPr/>
        </p:nvSpPr>
        <p:spPr>
          <a:xfrm>
            <a:off x="834208" y="1371017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16" name="타원 115"/>
          <p:cNvSpPr/>
          <p:nvPr/>
        </p:nvSpPr>
        <p:spPr>
          <a:xfrm>
            <a:off x="1087795" y="1369219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17" name="타원 116"/>
          <p:cNvSpPr/>
          <p:nvPr/>
        </p:nvSpPr>
        <p:spPr>
          <a:xfrm>
            <a:off x="2060700" y="1283748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18" name="타원 117"/>
          <p:cNvSpPr/>
          <p:nvPr/>
        </p:nvSpPr>
        <p:spPr>
          <a:xfrm>
            <a:off x="2806169" y="1283276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19" name="타원 118"/>
          <p:cNvSpPr/>
          <p:nvPr/>
        </p:nvSpPr>
        <p:spPr>
          <a:xfrm>
            <a:off x="3996577" y="1283276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20" name="타원 119"/>
          <p:cNvSpPr/>
          <p:nvPr/>
        </p:nvSpPr>
        <p:spPr>
          <a:xfrm>
            <a:off x="4742087" y="1283276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21" name="타원 120"/>
          <p:cNvSpPr/>
          <p:nvPr/>
        </p:nvSpPr>
        <p:spPr>
          <a:xfrm>
            <a:off x="5931160" y="1292512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22" name="타원 121"/>
          <p:cNvSpPr/>
          <p:nvPr/>
        </p:nvSpPr>
        <p:spPr>
          <a:xfrm>
            <a:off x="6667225" y="1377983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23" name="타원 122"/>
          <p:cNvSpPr/>
          <p:nvPr/>
        </p:nvSpPr>
        <p:spPr>
          <a:xfrm>
            <a:off x="7865743" y="1276986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24" name="타원 123"/>
          <p:cNvSpPr/>
          <p:nvPr/>
        </p:nvSpPr>
        <p:spPr>
          <a:xfrm>
            <a:off x="7865743" y="1486799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25" name="타원 124"/>
          <p:cNvSpPr/>
          <p:nvPr/>
        </p:nvSpPr>
        <p:spPr>
          <a:xfrm>
            <a:off x="8557841" y="1376125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26" name="타원 125"/>
          <p:cNvSpPr/>
          <p:nvPr/>
        </p:nvSpPr>
        <p:spPr>
          <a:xfrm>
            <a:off x="9215225" y="1381826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27" name="타원 126"/>
          <p:cNvSpPr/>
          <p:nvPr/>
        </p:nvSpPr>
        <p:spPr>
          <a:xfrm>
            <a:off x="7859136" y="562255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  <a:endParaRPr lang="ko-KR" altLang="en-US" sz="1000" b="1" dirty="0"/>
          </a:p>
        </p:txBody>
      </p:sp>
      <p:sp>
        <p:nvSpPr>
          <p:cNvPr id="128" name="타원 127"/>
          <p:cNvSpPr/>
          <p:nvPr/>
        </p:nvSpPr>
        <p:spPr>
          <a:xfrm>
            <a:off x="10913752" y="1278410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2</a:t>
            </a:r>
            <a:endParaRPr lang="ko-KR" altLang="en-US" sz="1000" b="1" dirty="0"/>
          </a:p>
        </p:txBody>
      </p:sp>
      <p:grpSp>
        <p:nvGrpSpPr>
          <p:cNvPr id="21" name="그룹 20"/>
          <p:cNvGrpSpPr/>
          <p:nvPr/>
        </p:nvGrpSpPr>
        <p:grpSpPr>
          <a:xfrm>
            <a:off x="9159970" y="2262190"/>
            <a:ext cx="2656496" cy="677108"/>
            <a:chOff x="9190952" y="2086692"/>
            <a:chExt cx="2656496" cy="677108"/>
          </a:xfrm>
        </p:grpSpPr>
        <p:sp>
          <p:nvSpPr>
            <p:cNvPr id="3" name="TextBox 2"/>
            <p:cNvSpPr txBox="1"/>
            <p:nvPr/>
          </p:nvSpPr>
          <p:spPr>
            <a:xfrm>
              <a:off x="9190952" y="2086692"/>
              <a:ext cx="2656496" cy="677108"/>
            </a:xfrm>
            <a:prstGeom prst="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+mj-ea"/>
                  <a:ea typeface="+mj-ea"/>
                </a:rPr>
                <a:t>* BCR </a:t>
              </a:r>
              <a:r>
                <a:rPr lang="ko-KR" altLang="en-US" sz="900" b="1" dirty="0">
                  <a:latin typeface="+mj-ea"/>
                  <a:ea typeface="+mj-ea"/>
                </a:rPr>
                <a:t>설치 위치 </a:t>
              </a:r>
              <a:r>
                <a:rPr lang="en-US" altLang="ko-KR" sz="900" b="1" dirty="0">
                  <a:latin typeface="+mj-ea"/>
                  <a:ea typeface="+mj-ea"/>
                </a:rPr>
                <a:t>: </a:t>
              </a:r>
              <a:r>
                <a:rPr lang="en-US" altLang="ko-KR" sz="900" b="1" dirty="0" smtClean="0">
                  <a:latin typeface="+mj-ea"/>
                  <a:ea typeface="+mj-ea"/>
                </a:rPr>
                <a:t>17</a:t>
              </a:r>
              <a:r>
                <a:rPr lang="ko-KR" altLang="en-US" sz="900" b="1" dirty="0" smtClean="0">
                  <a:latin typeface="+mj-ea"/>
                  <a:ea typeface="+mj-ea"/>
                </a:rPr>
                <a:t>개소</a:t>
              </a:r>
              <a:endParaRPr lang="en-US" altLang="ko-KR" sz="900" b="1" dirty="0" smtClean="0">
                <a:latin typeface="+mj-ea"/>
                <a:ea typeface="+mj-ea"/>
              </a:endParaRPr>
            </a:p>
            <a:p>
              <a:endParaRPr lang="en-US" altLang="ko-KR" sz="500" b="1" dirty="0" smtClean="0">
                <a:latin typeface="+mj-ea"/>
                <a:ea typeface="+mj-ea"/>
              </a:endParaRPr>
            </a:p>
            <a:p>
              <a:r>
                <a:rPr lang="ko-KR" altLang="en-US" sz="800" b="1" dirty="0" smtClean="0">
                  <a:latin typeface="+mj-ea"/>
                  <a:ea typeface="+mj-ea"/>
                </a:rPr>
                <a:t>    </a:t>
              </a:r>
              <a:r>
                <a:rPr lang="ko-KR" altLang="en-US" sz="800" b="1" dirty="0" err="1" smtClean="0">
                  <a:latin typeface="+mj-ea"/>
                  <a:ea typeface="+mj-ea"/>
                </a:rPr>
                <a:t>지그리딩</a:t>
              </a:r>
              <a:r>
                <a:rPr lang="ko-KR" altLang="en-US" sz="800" b="1" dirty="0" smtClean="0">
                  <a:latin typeface="+mj-ea"/>
                  <a:ea typeface="+mj-ea"/>
                </a:rPr>
                <a:t> </a:t>
              </a:r>
              <a:r>
                <a:rPr lang="en-US" altLang="ko-KR" sz="800" b="1" dirty="0">
                  <a:latin typeface="+mj-ea"/>
                  <a:ea typeface="+mj-ea"/>
                </a:rPr>
                <a:t>: SR-X100W(13EA) </a:t>
              </a:r>
              <a:r>
                <a:rPr lang="en-US" altLang="ko-KR" sz="800" b="1" dirty="0" smtClean="0">
                  <a:latin typeface="+mj-ea"/>
                  <a:ea typeface="+mj-ea"/>
                </a:rPr>
                <a:t>– Keyence</a:t>
              </a:r>
            </a:p>
            <a:p>
              <a:pPr marL="228600" indent="-228600">
                <a:buAutoNum type="arabicPeriod"/>
              </a:pPr>
              <a:endParaRPr lang="en-US" altLang="ko-KR" sz="800" b="1" dirty="0" smtClean="0">
                <a:latin typeface="+mj-ea"/>
                <a:ea typeface="+mj-ea"/>
              </a:endParaRPr>
            </a:p>
            <a:p>
              <a:r>
                <a:rPr lang="en-US" altLang="ko-KR" sz="800" b="1" dirty="0" smtClean="0">
                  <a:latin typeface="+mj-ea"/>
                  <a:ea typeface="+mj-ea"/>
                </a:rPr>
                <a:t>    </a:t>
              </a:r>
              <a:r>
                <a:rPr lang="ko-KR" altLang="en-US" sz="800" b="1" dirty="0" err="1" smtClean="0">
                  <a:latin typeface="+mj-ea"/>
                  <a:ea typeface="+mj-ea"/>
                </a:rPr>
                <a:t>패널리딩</a:t>
              </a:r>
              <a:r>
                <a:rPr lang="en-US" altLang="ko-KR" sz="800" b="1" dirty="0" smtClean="0">
                  <a:latin typeface="+mj-ea"/>
                  <a:ea typeface="+mj-ea"/>
                </a:rPr>
                <a:t>(Hand MCR)</a:t>
              </a:r>
              <a:r>
                <a:rPr lang="ko-KR" altLang="en-US" sz="800" b="1" dirty="0" smtClean="0">
                  <a:latin typeface="+mj-ea"/>
                  <a:ea typeface="+mj-ea"/>
                </a:rPr>
                <a:t> </a:t>
              </a:r>
              <a:r>
                <a:rPr lang="en-US" altLang="ko-KR" sz="800" b="1" dirty="0" smtClean="0">
                  <a:latin typeface="+mj-ea"/>
                  <a:ea typeface="+mj-ea"/>
                </a:rPr>
                <a:t>: HR-X500(2EA) - Keyence</a:t>
              </a:r>
              <a:endParaRPr lang="ko-KR" altLang="en-US" sz="800" b="1" dirty="0">
                <a:latin typeface="+mj-ea"/>
                <a:ea typeface="+mj-ea"/>
              </a:endParaRPr>
            </a:p>
          </p:txBody>
        </p:sp>
        <p:sp>
          <p:nvSpPr>
            <p:cNvPr id="129" name="타원 128"/>
            <p:cNvSpPr/>
            <p:nvPr/>
          </p:nvSpPr>
          <p:spPr>
            <a:xfrm>
              <a:off x="9221190" y="2562089"/>
              <a:ext cx="151293" cy="1709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/>
                <a:t>2</a:t>
              </a:r>
              <a:endParaRPr lang="ko-KR" altLang="en-US" sz="1000" b="1" dirty="0"/>
            </a:p>
          </p:txBody>
        </p:sp>
        <p:sp>
          <p:nvSpPr>
            <p:cNvPr id="130" name="타원 129"/>
            <p:cNvSpPr/>
            <p:nvPr/>
          </p:nvSpPr>
          <p:spPr>
            <a:xfrm>
              <a:off x="9215225" y="2319225"/>
              <a:ext cx="151293" cy="1709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/>
                <a:t>1</a:t>
              </a:r>
              <a:endParaRPr lang="ko-KR" altLang="en-US" sz="1000" b="1" dirty="0"/>
            </a:p>
          </p:txBody>
        </p:sp>
      </p:grpSp>
      <p:sp>
        <p:nvSpPr>
          <p:cNvPr id="86" name="모서리가 둥근 직사각형 85"/>
          <p:cNvSpPr/>
          <p:nvPr/>
        </p:nvSpPr>
        <p:spPr>
          <a:xfrm>
            <a:off x="3275941" y="3250825"/>
            <a:ext cx="1155292" cy="986400"/>
          </a:xfrm>
          <a:prstGeom prst="roundRect">
            <a:avLst>
              <a:gd name="adj" fmla="val 5397"/>
            </a:avLst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모서리가 둥근 직사각형 86"/>
          <p:cNvSpPr/>
          <p:nvPr/>
        </p:nvSpPr>
        <p:spPr>
          <a:xfrm>
            <a:off x="4860663" y="3250825"/>
            <a:ext cx="1155292" cy="986400"/>
          </a:xfrm>
          <a:prstGeom prst="roundRect">
            <a:avLst>
              <a:gd name="adj" fmla="val 5397"/>
            </a:avLst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위로 굽은 화살표 138"/>
          <p:cNvSpPr/>
          <p:nvPr/>
        </p:nvSpPr>
        <p:spPr>
          <a:xfrm flipV="1">
            <a:off x="7295459" y="5283413"/>
            <a:ext cx="180000" cy="538546"/>
          </a:xfrm>
          <a:prstGeom prst="bentUpArrow">
            <a:avLst>
              <a:gd name="adj1" fmla="val 19864"/>
              <a:gd name="adj2" fmla="val 29012"/>
              <a:gd name="adj3" fmla="val 37949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위로 굽은 화살표 139"/>
          <p:cNvSpPr/>
          <p:nvPr/>
        </p:nvSpPr>
        <p:spPr>
          <a:xfrm flipH="1" flipV="1">
            <a:off x="7492576" y="5283413"/>
            <a:ext cx="180000" cy="538546"/>
          </a:xfrm>
          <a:prstGeom prst="bentUpArrow">
            <a:avLst>
              <a:gd name="adj1" fmla="val 19864"/>
              <a:gd name="adj2" fmla="val 26366"/>
              <a:gd name="adj3" fmla="val 37949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TextBox 140"/>
          <p:cNvSpPr txBox="1"/>
          <p:nvPr/>
        </p:nvSpPr>
        <p:spPr>
          <a:xfrm>
            <a:off x="7162044" y="5464922"/>
            <a:ext cx="633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LAN </a:t>
            </a:r>
            <a:r>
              <a:rPr lang="ko-KR" altLang="en-US" sz="800" b="1" dirty="0" smtClean="0"/>
              <a:t>통신</a:t>
            </a:r>
            <a:endParaRPr lang="ko-KR" altLang="en-US" sz="800" b="1" dirty="0"/>
          </a:p>
        </p:txBody>
      </p:sp>
      <p:sp>
        <p:nvSpPr>
          <p:cNvPr id="149" name="왼쪽/위쪽 화살표 148"/>
          <p:cNvSpPr/>
          <p:nvPr/>
        </p:nvSpPr>
        <p:spPr>
          <a:xfrm>
            <a:off x="5196372" y="4215980"/>
            <a:ext cx="277243" cy="306680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왼쪽/위쪽 화살표 149"/>
          <p:cNvSpPr/>
          <p:nvPr/>
        </p:nvSpPr>
        <p:spPr>
          <a:xfrm flipH="1">
            <a:off x="3827221" y="4218116"/>
            <a:ext cx="277200" cy="304544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왼쪽/오른쪽 화살표 151"/>
          <p:cNvSpPr/>
          <p:nvPr/>
        </p:nvSpPr>
        <p:spPr>
          <a:xfrm rot="5400000">
            <a:off x="3747967" y="3693528"/>
            <a:ext cx="179866" cy="104013"/>
          </a:xfrm>
          <a:prstGeom prst="leftRightArrow">
            <a:avLst>
              <a:gd name="adj1" fmla="val 38658"/>
              <a:gd name="adj2" fmla="val 664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80691" y="3286686"/>
            <a:ext cx="48763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CONTROL.</a:t>
            </a:r>
            <a:endParaRPr lang="ko-KR" altLang="en-US" sz="500" dirty="0"/>
          </a:p>
        </p:txBody>
      </p:sp>
      <p:sp>
        <p:nvSpPr>
          <p:cNvPr id="159" name="TextBox 158"/>
          <p:cNvSpPr txBox="1"/>
          <p:nvPr/>
        </p:nvSpPr>
        <p:spPr>
          <a:xfrm>
            <a:off x="1974272" y="3284887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160" name="TextBox 159"/>
          <p:cNvSpPr txBox="1"/>
          <p:nvPr/>
        </p:nvSpPr>
        <p:spPr>
          <a:xfrm>
            <a:off x="1583267" y="4064359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131" name="타원 130"/>
          <p:cNvSpPr/>
          <p:nvPr/>
        </p:nvSpPr>
        <p:spPr>
          <a:xfrm>
            <a:off x="11450570" y="1121202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2</a:t>
            </a:r>
            <a:endParaRPr lang="ko-KR" altLang="en-US" sz="1000" b="1" dirty="0"/>
          </a:p>
        </p:txBody>
      </p:sp>
      <p:sp>
        <p:nvSpPr>
          <p:cNvPr id="132" name="타원 131"/>
          <p:cNvSpPr/>
          <p:nvPr/>
        </p:nvSpPr>
        <p:spPr>
          <a:xfrm>
            <a:off x="11452744" y="1606669"/>
            <a:ext cx="151293" cy="170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2</a:t>
            </a:r>
            <a:endParaRPr lang="ko-KR" altLang="en-US" sz="1000" b="1" dirty="0"/>
          </a:p>
        </p:txBody>
      </p:sp>
      <p:sp>
        <p:nvSpPr>
          <p:cNvPr id="133" name="TextBox 132"/>
          <p:cNvSpPr txBox="1"/>
          <p:nvPr/>
        </p:nvSpPr>
        <p:spPr>
          <a:xfrm>
            <a:off x="477684" y="4378625"/>
            <a:ext cx="8643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 smtClean="0"/>
              <a:t>CIM PC </a:t>
            </a:r>
            <a:r>
              <a:rPr lang="en-US" altLang="ko-KR" sz="500" dirty="0" err="1" smtClean="0"/>
              <a:t>Mnet</a:t>
            </a:r>
            <a:r>
              <a:rPr lang="en-US" altLang="ko-KR" sz="500" dirty="0" smtClean="0"/>
              <a:t> Card</a:t>
            </a:r>
            <a:br>
              <a:rPr lang="en-US" altLang="ko-KR" sz="500" dirty="0" smtClean="0"/>
            </a:br>
            <a:r>
              <a:rPr lang="ko-KR" altLang="en-US" sz="500" dirty="0" smtClean="0"/>
              <a:t>최대 </a:t>
            </a:r>
            <a:r>
              <a:rPr lang="en-US" altLang="ko-KR" sz="500" dirty="0" smtClean="0"/>
              <a:t>4</a:t>
            </a:r>
            <a:r>
              <a:rPr lang="ko-KR" altLang="en-US" sz="500" dirty="0" smtClean="0"/>
              <a:t>개까지 설치 가능</a:t>
            </a:r>
            <a:endParaRPr lang="ko-KR" altLang="en-US" sz="500" dirty="0"/>
          </a:p>
        </p:txBody>
      </p:sp>
      <p:sp>
        <p:nvSpPr>
          <p:cNvPr id="134" name="왼쪽/위쪽 화살표 133"/>
          <p:cNvSpPr/>
          <p:nvPr/>
        </p:nvSpPr>
        <p:spPr>
          <a:xfrm flipH="1">
            <a:off x="993180" y="3818513"/>
            <a:ext cx="277200" cy="557181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왼쪽/위쪽 화살표 145"/>
          <p:cNvSpPr/>
          <p:nvPr/>
        </p:nvSpPr>
        <p:spPr>
          <a:xfrm>
            <a:off x="2358820" y="3818513"/>
            <a:ext cx="277243" cy="562954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왼쪽/위쪽 화살표 147"/>
          <p:cNvSpPr/>
          <p:nvPr/>
        </p:nvSpPr>
        <p:spPr>
          <a:xfrm flipH="1">
            <a:off x="986500" y="5649536"/>
            <a:ext cx="277200" cy="557181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왼쪽/위쪽 화살표 162"/>
          <p:cNvSpPr/>
          <p:nvPr/>
        </p:nvSpPr>
        <p:spPr>
          <a:xfrm>
            <a:off x="2360529" y="5649536"/>
            <a:ext cx="277243" cy="562954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왼쪽/위쪽 화살표 164"/>
          <p:cNvSpPr/>
          <p:nvPr/>
        </p:nvSpPr>
        <p:spPr>
          <a:xfrm flipH="1">
            <a:off x="3805091" y="5649279"/>
            <a:ext cx="277200" cy="557181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왼쪽/위쪽 화살표 165"/>
          <p:cNvSpPr/>
          <p:nvPr/>
        </p:nvSpPr>
        <p:spPr>
          <a:xfrm>
            <a:off x="5170731" y="5649279"/>
            <a:ext cx="277243" cy="562954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1295884" y="4236012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Card1</a:t>
            </a:r>
            <a:endParaRPr lang="ko-KR" altLang="en-US" sz="500" dirty="0"/>
          </a:p>
        </p:txBody>
      </p:sp>
      <p:sp>
        <p:nvSpPr>
          <p:cNvPr id="135" name="모서리가 둥근 직사각형 134"/>
          <p:cNvSpPr/>
          <p:nvPr/>
        </p:nvSpPr>
        <p:spPr>
          <a:xfrm>
            <a:off x="2081069" y="4233094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Card2</a:t>
            </a:r>
            <a:endParaRPr lang="ko-KR" altLang="en-US" sz="500" dirty="0"/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4127826" y="4381174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Card1</a:t>
            </a:r>
            <a:endParaRPr lang="ko-KR" altLang="en-US" sz="500" dirty="0"/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1302234" y="6061746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Card1</a:t>
            </a:r>
            <a:endParaRPr lang="ko-KR" altLang="en-US" sz="500" dirty="0"/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116625" y="6074074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Card1</a:t>
            </a:r>
            <a:endParaRPr lang="ko-KR" altLang="en-US" sz="5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7007427" y="4388562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Card1</a:t>
            </a:r>
            <a:endParaRPr lang="ko-KR" altLang="en-US" sz="500" dirty="0"/>
          </a:p>
        </p:txBody>
      </p:sp>
      <p:sp>
        <p:nvSpPr>
          <p:cNvPr id="171" name="모서리가 둥근 직사각형 170"/>
          <p:cNvSpPr/>
          <p:nvPr/>
        </p:nvSpPr>
        <p:spPr>
          <a:xfrm>
            <a:off x="9896245" y="4396609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Card1</a:t>
            </a:r>
            <a:endParaRPr lang="ko-KR" altLang="en-US" sz="5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8495964" y="5984619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</a:t>
            </a:r>
            <a:endParaRPr lang="ko-KR" altLang="en-US" sz="500" dirty="0"/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2081288" y="6069312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Card2</a:t>
            </a:r>
            <a:endParaRPr lang="ko-KR" altLang="en-US" sz="5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4893238" y="6074074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Card2</a:t>
            </a:r>
            <a:endParaRPr lang="ko-KR" altLang="en-US" sz="5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4917132" y="4381473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Card2</a:t>
            </a:r>
            <a:endParaRPr lang="ko-KR" altLang="en-US" sz="500" dirty="0"/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7800463" y="4378273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Card2</a:t>
            </a:r>
            <a:endParaRPr lang="ko-KR" altLang="en-US" sz="500" dirty="0"/>
          </a:p>
        </p:txBody>
      </p:sp>
      <p:sp>
        <p:nvSpPr>
          <p:cNvPr id="177" name="모서리가 둥근 직사각형 176"/>
          <p:cNvSpPr/>
          <p:nvPr/>
        </p:nvSpPr>
        <p:spPr>
          <a:xfrm>
            <a:off x="10687937" y="4392849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Card2</a:t>
            </a:r>
            <a:endParaRPr lang="ko-KR" altLang="en-US" sz="500" dirty="0"/>
          </a:p>
        </p:txBody>
      </p:sp>
      <p:sp>
        <p:nvSpPr>
          <p:cNvPr id="178" name="모서리가 둥근 직사각형 177"/>
          <p:cNvSpPr/>
          <p:nvPr/>
        </p:nvSpPr>
        <p:spPr>
          <a:xfrm>
            <a:off x="805906" y="3729383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79" name="모서리가 둥근 직사각형 178"/>
          <p:cNvSpPr/>
          <p:nvPr/>
        </p:nvSpPr>
        <p:spPr>
          <a:xfrm>
            <a:off x="2338008" y="3729461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2347532" y="5555837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797121" y="5553400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3618754" y="5551018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Module</a:t>
            </a:r>
            <a:endParaRPr lang="ko-KR" altLang="en-US" sz="500" dirty="0"/>
          </a:p>
        </p:txBody>
      </p:sp>
      <p:sp>
        <p:nvSpPr>
          <p:cNvPr id="183" name="모서리가 둥근 직사각형 182"/>
          <p:cNvSpPr/>
          <p:nvPr/>
        </p:nvSpPr>
        <p:spPr>
          <a:xfrm>
            <a:off x="5155554" y="5551018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3595520" y="3565371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86" name="모서리가 둥근 직사각형 185"/>
          <p:cNvSpPr/>
          <p:nvPr/>
        </p:nvSpPr>
        <p:spPr>
          <a:xfrm>
            <a:off x="3595520" y="4124622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87" name="모서리가 둥근 직사각형 186"/>
          <p:cNvSpPr/>
          <p:nvPr/>
        </p:nvSpPr>
        <p:spPr>
          <a:xfrm>
            <a:off x="4918492" y="3851084"/>
            <a:ext cx="1054800" cy="3492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배출기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8" name="모서리가 둥근 직사각형 187"/>
          <p:cNvSpPr/>
          <p:nvPr/>
        </p:nvSpPr>
        <p:spPr>
          <a:xfrm>
            <a:off x="4911092" y="3292539"/>
            <a:ext cx="1054800" cy="3486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주입기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9" name="왼쪽/오른쪽 화살표 188"/>
          <p:cNvSpPr/>
          <p:nvPr/>
        </p:nvSpPr>
        <p:spPr>
          <a:xfrm rot="5400000">
            <a:off x="5339003" y="3695497"/>
            <a:ext cx="179866" cy="104013"/>
          </a:xfrm>
          <a:prstGeom prst="leftRightArrow">
            <a:avLst>
              <a:gd name="adj1" fmla="val 38658"/>
              <a:gd name="adj2" fmla="val 664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5186556" y="3567340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5186556" y="4126591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6202940" y="3851083"/>
            <a:ext cx="1054800" cy="3492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배출기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6195540" y="3294919"/>
            <a:ext cx="1054800" cy="3486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주입기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6151425" y="3252793"/>
            <a:ext cx="1155292" cy="986400"/>
          </a:xfrm>
          <a:prstGeom prst="roundRect">
            <a:avLst>
              <a:gd name="adj" fmla="val 5397"/>
            </a:avLst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모서리가 둥근 직사각형 194"/>
          <p:cNvSpPr/>
          <p:nvPr/>
        </p:nvSpPr>
        <p:spPr>
          <a:xfrm>
            <a:off x="7736147" y="3252793"/>
            <a:ext cx="1155292" cy="986400"/>
          </a:xfrm>
          <a:prstGeom prst="roundRect">
            <a:avLst>
              <a:gd name="adj" fmla="val 5397"/>
            </a:avLst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왼쪽/오른쪽 화살표 195"/>
          <p:cNvSpPr/>
          <p:nvPr/>
        </p:nvSpPr>
        <p:spPr>
          <a:xfrm rot="5400000">
            <a:off x="6623451" y="3695496"/>
            <a:ext cx="179866" cy="104013"/>
          </a:xfrm>
          <a:prstGeom prst="leftRightArrow">
            <a:avLst>
              <a:gd name="adj1" fmla="val 38658"/>
              <a:gd name="adj2" fmla="val 664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6471004" y="3567339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6471004" y="4126590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99" name="모서리가 둥근 직사각형 198"/>
          <p:cNvSpPr/>
          <p:nvPr/>
        </p:nvSpPr>
        <p:spPr>
          <a:xfrm>
            <a:off x="7793976" y="3853052"/>
            <a:ext cx="1054800" cy="3492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배출기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0" name="모서리가 둥근 직사각형 199"/>
          <p:cNvSpPr/>
          <p:nvPr/>
        </p:nvSpPr>
        <p:spPr>
          <a:xfrm>
            <a:off x="7786576" y="3294507"/>
            <a:ext cx="1054800" cy="3486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주입기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1" name="왼쪽/오른쪽 화살표 200"/>
          <p:cNvSpPr/>
          <p:nvPr/>
        </p:nvSpPr>
        <p:spPr>
          <a:xfrm rot="5400000">
            <a:off x="8214487" y="3697465"/>
            <a:ext cx="179866" cy="104013"/>
          </a:xfrm>
          <a:prstGeom prst="leftRightArrow">
            <a:avLst>
              <a:gd name="adj1" fmla="val 38658"/>
              <a:gd name="adj2" fmla="val 664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8062040" y="3569308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8062040" y="4128559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204" name="왼쪽/위쪽 화살표 203"/>
          <p:cNvSpPr/>
          <p:nvPr/>
        </p:nvSpPr>
        <p:spPr>
          <a:xfrm>
            <a:off x="8068390" y="4213930"/>
            <a:ext cx="277243" cy="306680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왼쪽/위쪽 화살표 204"/>
          <p:cNvSpPr/>
          <p:nvPr/>
        </p:nvSpPr>
        <p:spPr>
          <a:xfrm flipH="1">
            <a:off x="6705589" y="4216066"/>
            <a:ext cx="277200" cy="304544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모서리가 둥근 직사각형 205"/>
          <p:cNvSpPr/>
          <p:nvPr/>
        </p:nvSpPr>
        <p:spPr>
          <a:xfrm>
            <a:off x="9131147" y="3850459"/>
            <a:ext cx="1054800" cy="3492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배출기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9123747" y="3294295"/>
            <a:ext cx="1054800" cy="3486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주입기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9079632" y="3252169"/>
            <a:ext cx="1155292" cy="986400"/>
          </a:xfrm>
          <a:prstGeom prst="roundRect">
            <a:avLst>
              <a:gd name="adj" fmla="val 5397"/>
            </a:avLst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모서리가 둥근 직사각형 208"/>
          <p:cNvSpPr/>
          <p:nvPr/>
        </p:nvSpPr>
        <p:spPr>
          <a:xfrm>
            <a:off x="10607204" y="3252169"/>
            <a:ext cx="1155292" cy="986400"/>
          </a:xfrm>
          <a:prstGeom prst="roundRect">
            <a:avLst>
              <a:gd name="adj" fmla="val 5397"/>
            </a:avLst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왼쪽/오른쪽 화살표 209"/>
          <p:cNvSpPr/>
          <p:nvPr/>
        </p:nvSpPr>
        <p:spPr>
          <a:xfrm rot="5400000">
            <a:off x="9551658" y="3694872"/>
            <a:ext cx="179866" cy="104013"/>
          </a:xfrm>
          <a:prstGeom prst="leftRightArrow">
            <a:avLst>
              <a:gd name="adj1" fmla="val 38658"/>
              <a:gd name="adj2" fmla="val 664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" name="모서리가 둥근 직사각형 210"/>
          <p:cNvSpPr/>
          <p:nvPr/>
        </p:nvSpPr>
        <p:spPr>
          <a:xfrm>
            <a:off x="9399211" y="3566715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212" name="모서리가 둥근 직사각형 211"/>
          <p:cNvSpPr/>
          <p:nvPr/>
        </p:nvSpPr>
        <p:spPr>
          <a:xfrm>
            <a:off x="9399211" y="4125966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213" name="모서리가 둥근 직사각형 212"/>
          <p:cNvSpPr/>
          <p:nvPr/>
        </p:nvSpPr>
        <p:spPr>
          <a:xfrm>
            <a:off x="10665033" y="3852428"/>
            <a:ext cx="1054800" cy="349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UV </a:t>
            </a:r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경화기 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#1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4" name="모서리가 둥근 직사각형 213"/>
          <p:cNvSpPr/>
          <p:nvPr/>
        </p:nvSpPr>
        <p:spPr>
          <a:xfrm>
            <a:off x="10657633" y="3293883"/>
            <a:ext cx="1054800" cy="3486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투입기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5" name="왼쪽/오른쪽 화살표 214"/>
          <p:cNvSpPr/>
          <p:nvPr/>
        </p:nvSpPr>
        <p:spPr>
          <a:xfrm rot="5400000">
            <a:off x="11085544" y="3696841"/>
            <a:ext cx="179866" cy="104013"/>
          </a:xfrm>
          <a:prstGeom prst="leftRightArrow">
            <a:avLst>
              <a:gd name="adj1" fmla="val 38658"/>
              <a:gd name="adj2" fmla="val 664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6" name="모서리가 둥근 직사각형 215"/>
          <p:cNvSpPr/>
          <p:nvPr/>
        </p:nvSpPr>
        <p:spPr>
          <a:xfrm>
            <a:off x="10933097" y="3568684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217" name="모서리가 둥근 직사각형 216"/>
          <p:cNvSpPr/>
          <p:nvPr/>
        </p:nvSpPr>
        <p:spPr>
          <a:xfrm>
            <a:off x="10933097" y="4127935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Module</a:t>
            </a:r>
            <a:endParaRPr lang="ko-KR" altLang="en-US" sz="500" dirty="0"/>
          </a:p>
        </p:txBody>
      </p:sp>
      <p:sp>
        <p:nvSpPr>
          <p:cNvPr id="218" name="왼쪽/위쪽 화살표 217"/>
          <p:cNvSpPr/>
          <p:nvPr/>
        </p:nvSpPr>
        <p:spPr>
          <a:xfrm>
            <a:off x="10964847" y="4213306"/>
            <a:ext cx="277243" cy="306680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왼쪽/위쪽 화살표 218"/>
          <p:cNvSpPr/>
          <p:nvPr/>
        </p:nvSpPr>
        <p:spPr>
          <a:xfrm flipH="1">
            <a:off x="9595696" y="4215442"/>
            <a:ext cx="277200" cy="304544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모서리가 둥근 직사각형 219"/>
          <p:cNvSpPr/>
          <p:nvPr/>
        </p:nvSpPr>
        <p:spPr>
          <a:xfrm>
            <a:off x="7763459" y="5976461"/>
            <a:ext cx="245139" cy="185701"/>
          </a:xfrm>
          <a:prstGeom prst="round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</a:t>
            </a:r>
            <a:endParaRPr lang="ko-KR" altLang="en-US" sz="500" dirty="0"/>
          </a:p>
        </p:txBody>
      </p:sp>
      <p:sp>
        <p:nvSpPr>
          <p:cNvPr id="222" name="모서리가 둥근 직사각형 221"/>
          <p:cNvSpPr/>
          <p:nvPr/>
        </p:nvSpPr>
        <p:spPr>
          <a:xfrm>
            <a:off x="9768205" y="5232421"/>
            <a:ext cx="118800" cy="1196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3" name="모서리가 둥근 직사각형 222"/>
          <p:cNvSpPr/>
          <p:nvPr/>
        </p:nvSpPr>
        <p:spPr>
          <a:xfrm>
            <a:off x="9768205" y="5480474"/>
            <a:ext cx="118800" cy="1188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9847269" y="5177552"/>
            <a:ext cx="5196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한솔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9846912" y="5416763"/>
            <a:ext cx="5565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DMC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4479151" y="14587"/>
            <a:ext cx="2838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&lt; CIM PC MNET B/D 2EA </a:t>
            </a:r>
            <a:r>
              <a:rPr lang="ko-KR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구성 </a:t>
            </a:r>
            <a:r>
              <a:rPr lang="en-US" altLang="ko-KR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6069205" y="6234972"/>
            <a:ext cx="1207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TOP  : H/W </a:t>
            </a:r>
            <a:r>
              <a:rPr lang="ko-KR" altLang="en-US" sz="800" b="1" dirty="0" smtClean="0">
                <a:solidFill>
                  <a:srgbClr val="FF0000"/>
                </a:solidFill>
              </a:rPr>
              <a:t>제공</a:t>
            </a:r>
            <a:endParaRPr lang="en-US" altLang="ko-KR" sz="800" b="1" dirty="0" smtClean="0">
              <a:solidFill>
                <a:srgbClr val="FF0000"/>
              </a:solidFill>
            </a:endParaRPr>
          </a:p>
          <a:p>
            <a:r>
              <a:rPr lang="en-US" altLang="ko-KR" sz="800" b="1" dirty="0">
                <a:solidFill>
                  <a:srgbClr val="FF0000"/>
                </a:solidFill>
              </a:rPr>
              <a:t>DMC : </a:t>
            </a:r>
            <a:r>
              <a:rPr lang="ko-KR" altLang="en-US" sz="800" b="1" dirty="0">
                <a:solidFill>
                  <a:srgbClr val="FF0000"/>
                </a:solidFill>
              </a:rPr>
              <a:t>통신 </a:t>
            </a:r>
            <a:r>
              <a:rPr lang="en-US" altLang="ko-KR" sz="800" b="1" dirty="0">
                <a:solidFill>
                  <a:srgbClr val="FF0000"/>
                </a:solidFill>
              </a:rPr>
              <a:t>S/W </a:t>
            </a:r>
            <a:r>
              <a:rPr lang="ko-KR" altLang="en-US" sz="800" b="1" dirty="0" smtClean="0">
                <a:solidFill>
                  <a:srgbClr val="FF0000"/>
                </a:solidFill>
              </a:rPr>
              <a:t>준비</a:t>
            </a:r>
            <a:endParaRPr lang="en-US" altLang="ko-KR" sz="800" b="1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303297" y="969232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#1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302234" y="386311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#2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237143" y="384112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#3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4089153" y="375002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#5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5036515" y="381721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#6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5958957" y="381398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#7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7048909" y="528337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#8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784508" y="389287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#9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8757893" y="392430"/>
            <a:ext cx="343364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#10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639798" y="382793"/>
            <a:ext cx="343364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#11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638481" y="550658"/>
            <a:ext cx="343364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#12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10501708" y="1349316"/>
            <a:ext cx="343364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#14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5334993" y="238331"/>
            <a:ext cx="1130438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Jig Return Conveyor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3167233" y="519791"/>
            <a:ext cx="290464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#4</a:t>
            </a:r>
          </a:p>
        </p:txBody>
      </p:sp>
      <p:grpSp>
        <p:nvGrpSpPr>
          <p:cNvPr id="240" name="그룹 239"/>
          <p:cNvGrpSpPr/>
          <p:nvPr/>
        </p:nvGrpSpPr>
        <p:grpSpPr>
          <a:xfrm>
            <a:off x="7686057" y="2259070"/>
            <a:ext cx="1255472" cy="677108"/>
            <a:chOff x="9190952" y="2086692"/>
            <a:chExt cx="1255472" cy="677108"/>
          </a:xfrm>
        </p:grpSpPr>
        <p:sp>
          <p:nvSpPr>
            <p:cNvPr id="241" name="TextBox 240"/>
            <p:cNvSpPr txBox="1"/>
            <p:nvPr/>
          </p:nvSpPr>
          <p:spPr>
            <a:xfrm>
              <a:off x="9190952" y="2086692"/>
              <a:ext cx="1255472" cy="677108"/>
            </a:xfrm>
            <a:prstGeom prst="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+mj-ea"/>
                  <a:ea typeface="+mj-ea"/>
                </a:rPr>
                <a:t>* Conveyor </a:t>
              </a:r>
              <a:r>
                <a:rPr lang="ko-KR" altLang="en-US" sz="900" b="1" dirty="0" smtClean="0">
                  <a:latin typeface="+mj-ea"/>
                  <a:ea typeface="+mj-ea"/>
                </a:rPr>
                <a:t>제어 </a:t>
              </a:r>
              <a:r>
                <a:rPr lang="en-US" altLang="ko-KR" sz="900" b="1" dirty="0" smtClean="0">
                  <a:latin typeface="+mj-ea"/>
                  <a:ea typeface="+mj-ea"/>
                </a:rPr>
                <a:t>PC</a:t>
              </a:r>
            </a:p>
            <a:p>
              <a:endParaRPr lang="en-US" altLang="ko-KR" sz="500" b="1" dirty="0" smtClean="0">
                <a:latin typeface="+mj-ea"/>
                <a:ea typeface="+mj-ea"/>
              </a:endParaRPr>
            </a:p>
            <a:p>
              <a:r>
                <a:rPr lang="ko-KR" altLang="en-US" sz="800" b="1" dirty="0" smtClean="0">
                  <a:latin typeface="+mj-ea"/>
                  <a:ea typeface="+mj-ea"/>
                </a:rPr>
                <a:t>    </a:t>
              </a:r>
              <a:r>
                <a:rPr lang="ko-KR" altLang="en-US" sz="800" b="1" dirty="0" err="1" smtClean="0">
                  <a:latin typeface="+mj-ea"/>
                  <a:ea typeface="+mj-ea"/>
                </a:rPr>
                <a:t>조립기</a:t>
              </a:r>
              <a:r>
                <a:rPr lang="ko-KR" altLang="en-US" sz="800" b="1" dirty="0" smtClean="0">
                  <a:latin typeface="+mj-ea"/>
                  <a:ea typeface="+mj-ea"/>
                </a:rPr>
                <a:t> </a:t>
              </a:r>
              <a:r>
                <a:rPr lang="en-US" altLang="ko-KR" sz="800" b="1" dirty="0" smtClean="0">
                  <a:latin typeface="+mj-ea"/>
                  <a:ea typeface="+mj-ea"/>
                </a:rPr>
                <a:t>: #1 ~ #7</a:t>
              </a:r>
            </a:p>
            <a:p>
              <a:pPr marL="228600" indent="-228600">
                <a:buAutoNum type="arabicPeriod"/>
              </a:pPr>
              <a:endParaRPr lang="en-US" altLang="ko-KR" sz="800" b="1" dirty="0" smtClean="0">
                <a:latin typeface="+mj-ea"/>
                <a:ea typeface="+mj-ea"/>
              </a:endParaRPr>
            </a:p>
            <a:p>
              <a:r>
                <a:rPr lang="en-US" altLang="ko-KR" sz="800" b="1" dirty="0" smtClean="0">
                  <a:latin typeface="+mj-ea"/>
                  <a:ea typeface="+mj-ea"/>
                </a:rPr>
                <a:t>    </a:t>
              </a:r>
              <a:r>
                <a:rPr lang="ko-KR" altLang="en-US" sz="800" b="1" dirty="0" err="1" smtClean="0">
                  <a:latin typeface="+mj-ea"/>
                  <a:ea typeface="+mj-ea"/>
                </a:rPr>
                <a:t>해체기</a:t>
              </a:r>
              <a:r>
                <a:rPr lang="ko-KR" altLang="en-US" sz="800" b="1" dirty="0" smtClean="0">
                  <a:latin typeface="+mj-ea"/>
                  <a:ea typeface="+mj-ea"/>
                </a:rPr>
                <a:t> </a:t>
              </a:r>
              <a:r>
                <a:rPr lang="en-US" altLang="ko-KR" sz="800" b="1" dirty="0" smtClean="0">
                  <a:latin typeface="+mj-ea"/>
                  <a:ea typeface="+mj-ea"/>
                </a:rPr>
                <a:t>: #8 ~ #15</a:t>
              </a:r>
              <a:endParaRPr lang="ko-KR" altLang="en-US" sz="800" b="1" dirty="0">
                <a:latin typeface="+mj-ea"/>
                <a:ea typeface="+mj-ea"/>
              </a:endParaRPr>
            </a:p>
          </p:txBody>
        </p:sp>
        <p:sp>
          <p:nvSpPr>
            <p:cNvPr id="242" name="타원 241"/>
            <p:cNvSpPr/>
            <p:nvPr/>
          </p:nvSpPr>
          <p:spPr>
            <a:xfrm>
              <a:off x="9221190" y="2562089"/>
              <a:ext cx="151293" cy="1709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/>
                <a:t>2</a:t>
              </a:r>
              <a:endParaRPr lang="ko-KR" altLang="en-US" sz="1000" b="1" dirty="0"/>
            </a:p>
          </p:txBody>
        </p:sp>
        <p:sp>
          <p:nvSpPr>
            <p:cNvPr id="243" name="타원 242"/>
            <p:cNvSpPr/>
            <p:nvPr/>
          </p:nvSpPr>
          <p:spPr>
            <a:xfrm>
              <a:off x="9215225" y="2319225"/>
              <a:ext cx="151293" cy="1709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/>
                <a:t>1</a:t>
              </a:r>
              <a:endParaRPr lang="ko-KR" altLang="en-US" sz="1000" b="1" dirty="0"/>
            </a:p>
          </p:txBody>
        </p:sp>
      </p:grpSp>
      <p:sp>
        <p:nvSpPr>
          <p:cNvPr id="244" name="TextBox 243"/>
          <p:cNvSpPr txBox="1"/>
          <p:nvPr/>
        </p:nvSpPr>
        <p:spPr>
          <a:xfrm>
            <a:off x="11406477" y="1353212"/>
            <a:ext cx="343364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#15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717287" y="1405562"/>
            <a:ext cx="307366" cy="122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/>
          <p:cNvSpPr txBox="1"/>
          <p:nvPr/>
        </p:nvSpPr>
        <p:spPr>
          <a:xfrm>
            <a:off x="8703061" y="1358203"/>
            <a:ext cx="343364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dirty="0" smtClean="0">
                <a:latin typeface="Arial" panose="020B0604020202020204" pitchFamily="34" charset="0"/>
                <a:cs typeface="Arial" panose="020B0604020202020204" pitchFamily="34" charset="0"/>
              </a:rPr>
              <a:t>#13</a:t>
            </a:r>
            <a:endParaRPr lang="ko-KR" altLang="en-US" sz="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1526305" y="1289361"/>
            <a:ext cx="847973" cy="354430"/>
          </a:xfrm>
          <a:prstGeom prst="roundRect">
            <a:avLst/>
          </a:prstGeom>
          <a:noFill/>
          <a:ln w="2222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6" name="모서리가 둥근 직사각형 245"/>
          <p:cNvSpPr/>
          <p:nvPr/>
        </p:nvSpPr>
        <p:spPr>
          <a:xfrm>
            <a:off x="2391118" y="1292144"/>
            <a:ext cx="834038" cy="354430"/>
          </a:xfrm>
          <a:prstGeom prst="roundRect">
            <a:avLst/>
          </a:prstGeom>
          <a:noFill/>
          <a:ln w="2222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3241995" y="1296458"/>
            <a:ext cx="1071414" cy="354430"/>
          </a:xfrm>
          <a:prstGeom prst="roundRect">
            <a:avLst/>
          </a:prstGeom>
          <a:noFill/>
          <a:ln w="2222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8" name="모서리가 둥근 직사각형 247"/>
          <p:cNvSpPr/>
          <p:nvPr/>
        </p:nvSpPr>
        <p:spPr>
          <a:xfrm>
            <a:off x="4335794" y="1301990"/>
            <a:ext cx="819760" cy="354430"/>
          </a:xfrm>
          <a:prstGeom prst="roundRect">
            <a:avLst/>
          </a:prstGeom>
          <a:noFill/>
          <a:ln w="2222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5172393" y="1298791"/>
            <a:ext cx="1502941" cy="354430"/>
          </a:xfrm>
          <a:prstGeom prst="roundRect">
            <a:avLst/>
          </a:prstGeom>
          <a:noFill/>
          <a:ln w="2222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모서리가 둥근 사각형 설명선 29"/>
          <p:cNvSpPr/>
          <p:nvPr/>
        </p:nvSpPr>
        <p:spPr>
          <a:xfrm>
            <a:off x="4161478" y="1722139"/>
            <a:ext cx="1007730" cy="303512"/>
          </a:xfrm>
          <a:prstGeom prst="wedgeRoundRectCallout">
            <a:avLst>
              <a:gd name="adj1" fmla="val 81530"/>
              <a:gd name="adj2" fmla="val -7139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  <a:latin typeface="+mn-ea"/>
              </a:rPr>
              <a:t>TWO </a:t>
            </a:r>
            <a:r>
              <a:rPr lang="ko-KR" altLang="en-US" sz="600" b="1" dirty="0">
                <a:solidFill>
                  <a:schemeClr val="tx1"/>
                </a:solidFill>
                <a:latin typeface="+mn-ea"/>
              </a:rPr>
              <a:t>배출기 </a:t>
            </a:r>
            <a:r>
              <a:rPr lang="en-US" altLang="ko-KR" sz="600" b="1" dirty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600" b="1" dirty="0">
                <a:solidFill>
                  <a:schemeClr val="tx1"/>
                </a:solidFill>
                <a:latin typeface="+mn-ea"/>
              </a:rPr>
            </a:br>
            <a:r>
              <a:rPr lang="en-US" altLang="ko-KR" sz="600" b="1" dirty="0" smtClean="0">
                <a:solidFill>
                  <a:schemeClr val="tx1"/>
                </a:solidFill>
                <a:latin typeface="+mn-ea"/>
              </a:rPr>
              <a:t>Conveyor </a:t>
            </a:r>
            <a:r>
              <a:rPr lang="ko-KR" altLang="en-US" sz="600" b="1" dirty="0">
                <a:solidFill>
                  <a:schemeClr val="tx1"/>
                </a:solidFill>
                <a:latin typeface="+mn-ea"/>
              </a:rPr>
              <a:t>제어 범위</a:t>
            </a:r>
            <a:endParaRPr lang="en-US" altLang="ko-KR" sz="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1" name="모서리가 둥근 직사각형 220"/>
          <p:cNvSpPr/>
          <p:nvPr/>
        </p:nvSpPr>
        <p:spPr>
          <a:xfrm>
            <a:off x="10433203" y="6003957"/>
            <a:ext cx="1383263" cy="4784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HUB</a:t>
            </a:r>
            <a:br>
              <a:rPr lang="en-US" altLang="ko-KR" sz="1000" b="1" dirty="0" smtClean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900" b="1" dirty="0" smtClean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(CIM PC </a:t>
            </a:r>
            <a:r>
              <a:rPr lang="ko-KR" altLang="en-US" sz="900" b="1" dirty="0" smtClean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간 </a:t>
            </a:r>
            <a:r>
              <a:rPr lang="en-US" altLang="ko-KR" sz="900" b="1" dirty="0" smtClean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Local </a:t>
            </a:r>
            <a:r>
              <a:rPr lang="ko-KR" altLang="en-US" sz="900" b="1" dirty="0" smtClean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연결</a:t>
            </a:r>
            <a:r>
              <a:rPr lang="en-US" altLang="ko-KR" sz="900" b="1" dirty="0" smtClean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9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7" name="꺾인 연결선 26"/>
          <p:cNvCxnSpPr/>
          <p:nvPr/>
        </p:nvCxnSpPr>
        <p:spPr>
          <a:xfrm rot="16200000" flipH="1">
            <a:off x="5599344" y="767517"/>
            <a:ext cx="1421647" cy="9000000"/>
          </a:xfrm>
          <a:prstGeom prst="bentConnector3">
            <a:avLst>
              <a:gd name="adj1" fmla="val 24662"/>
            </a:avLst>
          </a:prstGeom>
          <a:ln w="158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꺾인 연결선 33"/>
          <p:cNvCxnSpPr>
            <a:stCxn id="108" idx="2"/>
            <a:endCxn id="221" idx="0"/>
          </p:cNvCxnSpPr>
          <p:nvPr/>
        </p:nvCxnSpPr>
        <p:spPr>
          <a:xfrm rot="16200000" flipH="1">
            <a:off x="7176227" y="2169957"/>
            <a:ext cx="1296000" cy="6372000"/>
          </a:xfrm>
          <a:prstGeom prst="bentConnector3">
            <a:avLst>
              <a:gd name="adj1" fmla="val 13045"/>
            </a:avLst>
          </a:prstGeom>
          <a:ln w="158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44" idx="2"/>
            <a:endCxn id="221" idx="0"/>
          </p:cNvCxnSpPr>
          <p:nvPr/>
        </p:nvCxnSpPr>
        <p:spPr>
          <a:xfrm rot="16200000" flipH="1">
            <a:off x="8707247" y="3478685"/>
            <a:ext cx="1342544" cy="3708000"/>
          </a:xfrm>
          <a:prstGeom prst="bentConnector3">
            <a:avLst>
              <a:gd name="adj1" fmla="val 12695"/>
            </a:avLst>
          </a:prstGeom>
          <a:ln w="158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48" idx="2"/>
            <a:endCxn id="221" idx="0"/>
          </p:cNvCxnSpPr>
          <p:nvPr/>
        </p:nvCxnSpPr>
        <p:spPr>
          <a:xfrm rot="16200000" flipH="1">
            <a:off x="10250312" y="4831149"/>
            <a:ext cx="1337614" cy="1008000"/>
          </a:xfrm>
          <a:prstGeom prst="bentConnector3">
            <a:avLst>
              <a:gd name="adj1" fmla="val 8466"/>
            </a:avLst>
          </a:prstGeom>
          <a:ln w="158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50" idx="2"/>
            <a:endCxn id="221" idx="2"/>
          </p:cNvCxnSpPr>
          <p:nvPr/>
        </p:nvCxnSpPr>
        <p:spPr>
          <a:xfrm rot="16200000" flipH="1">
            <a:off x="6481071" y="1717282"/>
            <a:ext cx="98192" cy="9432000"/>
          </a:xfrm>
          <a:prstGeom prst="bentConnector3">
            <a:avLst>
              <a:gd name="adj1" fmla="val 297997"/>
            </a:avLst>
          </a:prstGeom>
          <a:ln w="158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52" idx="2"/>
            <a:endCxn id="221" idx="2"/>
          </p:cNvCxnSpPr>
          <p:nvPr/>
        </p:nvCxnSpPr>
        <p:spPr>
          <a:xfrm rot="16200000" flipH="1">
            <a:off x="7795279" y="3241955"/>
            <a:ext cx="72848" cy="6408000"/>
          </a:xfrm>
          <a:prstGeom prst="bentConnector3">
            <a:avLst>
              <a:gd name="adj1" fmla="val 292583"/>
            </a:avLst>
          </a:prstGeom>
          <a:ln w="158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55" idx="3"/>
            <a:endCxn id="221" idx="1"/>
          </p:cNvCxnSpPr>
          <p:nvPr/>
        </p:nvCxnSpPr>
        <p:spPr>
          <a:xfrm>
            <a:off x="9531133" y="6072282"/>
            <a:ext cx="902070" cy="170886"/>
          </a:xfrm>
          <a:prstGeom prst="bentConnector3">
            <a:avLst/>
          </a:prstGeom>
          <a:ln w="158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/>
          <p:cNvSpPr txBox="1"/>
          <p:nvPr/>
        </p:nvSpPr>
        <p:spPr>
          <a:xfrm>
            <a:off x="4452899" y="4258301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29" name="TextBox 228"/>
          <p:cNvSpPr txBox="1"/>
          <p:nvPr/>
        </p:nvSpPr>
        <p:spPr>
          <a:xfrm>
            <a:off x="7315199" y="4252041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30" name="TextBox 229"/>
          <p:cNvSpPr txBox="1"/>
          <p:nvPr/>
        </p:nvSpPr>
        <p:spPr>
          <a:xfrm>
            <a:off x="10205333" y="4260508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31" name="TextBox 230"/>
          <p:cNvSpPr txBox="1"/>
          <p:nvPr/>
        </p:nvSpPr>
        <p:spPr>
          <a:xfrm>
            <a:off x="1612689" y="5858842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32" name="TextBox 231"/>
          <p:cNvSpPr txBox="1"/>
          <p:nvPr/>
        </p:nvSpPr>
        <p:spPr>
          <a:xfrm>
            <a:off x="4446852" y="5891822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33" name="TextBox 232"/>
          <p:cNvSpPr txBox="1"/>
          <p:nvPr/>
        </p:nvSpPr>
        <p:spPr>
          <a:xfrm>
            <a:off x="8804028" y="5795615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34" name="TextBox 233"/>
          <p:cNvSpPr txBox="1"/>
          <p:nvPr/>
        </p:nvSpPr>
        <p:spPr>
          <a:xfrm>
            <a:off x="3612741" y="3256422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36" name="TextBox 235"/>
          <p:cNvSpPr txBox="1"/>
          <p:nvPr/>
        </p:nvSpPr>
        <p:spPr>
          <a:xfrm>
            <a:off x="5200103" y="3249241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37" name="TextBox 236"/>
          <p:cNvSpPr txBox="1"/>
          <p:nvPr/>
        </p:nvSpPr>
        <p:spPr>
          <a:xfrm>
            <a:off x="6510454" y="3257614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50" name="TextBox 249"/>
          <p:cNvSpPr txBox="1"/>
          <p:nvPr/>
        </p:nvSpPr>
        <p:spPr>
          <a:xfrm>
            <a:off x="8083170" y="3257358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51" name="TextBox 250"/>
          <p:cNvSpPr txBox="1"/>
          <p:nvPr/>
        </p:nvSpPr>
        <p:spPr>
          <a:xfrm>
            <a:off x="9412941" y="3249241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52" name="TextBox 251"/>
          <p:cNvSpPr txBox="1"/>
          <p:nvPr/>
        </p:nvSpPr>
        <p:spPr>
          <a:xfrm>
            <a:off x="10945812" y="3823223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53" name="TextBox 252"/>
          <p:cNvSpPr txBox="1"/>
          <p:nvPr/>
        </p:nvSpPr>
        <p:spPr>
          <a:xfrm>
            <a:off x="10957033" y="3240162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54" name="TextBox 253"/>
          <p:cNvSpPr txBox="1"/>
          <p:nvPr/>
        </p:nvSpPr>
        <p:spPr>
          <a:xfrm>
            <a:off x="9399211" y="3819848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55" name="TextBox 254"/>
          <p:cNvSpPr txBox="1"/>
          <p:nvPr/>
        </p:nvSpPr>
        <p:spPr>
          <a:xfrm>
            <a:off x="838531" y="5119182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56" name="TextBox 255"/>
          <p:cNvSpPr txBox="1"/>
          <p:nvPr/>
        </p:nvSpPr>
        <p:spPr>
          <a:xfrm>
            <a:off x="2323231" y="5119833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57" name="TextBox 256"/>
          <p:cNvSpPr txBox="1"/>
          <p:nvPr/>
        </p:nvSpPr>
        <p:spPr>
          <a:xfrm>
            <a:off x="3664346" y="5118359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58" name="TextBox 257"/>
          <p:cNvSpPr txBox="1"/>
          <p:nvPr/>
        </p:nvSpPr>
        <p:spPr>
          <a:xfrm>
            <a:off x="5169208" y="5110359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59" name="TextBox 258"/>
          <p:cNvSpPr txBox="1"/>
          <p:nvPr/>
        </p:nvSpPr>
        <p:spPr>
          <a:xfrm>
            <a:off x="7577546" y="6170051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60" name="TextBox 259"/>
          <p:cNvSpPr txBox="1"/>
          <p:nvPr/>
        </p:nvSpPr>
        <p:spPr>
          <a:xfrm>
            <a:off x="3624463" y="3800198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61" name="TextBox 260"/>
          <p:cNvSpPr txBox="1"/>
          <p:nvPr/>
        </p:nvSpPr>
        <p:spPr>
          <a:xfrm>
            <a:off x="5203918" y="3807165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62" name="TextBox 261"/>
          <p:cNvSpPr txBox="1"/>
          <p:nvPr/>
        </p:nvSpPr>
        <p:spPr>
          <a:xfrm>
            <a:off x="6486990" y="3806668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63" name="TextBox 262"/>
          <p:cNvSpPr txBox="1"/>
          <p:nvPr/>
        </p:nvSpPr>
        <p:spPr>
          <a:xfrm>
            <a:off x="8084336" y="3806667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51233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592798" y="1114461"/>
            <a:ext cx="1054800" cy="3492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배출기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1380280" y="1571689"/>
            <a:ext cx="1058400" cy="3600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EQ2 CIM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585398" y="558297"/>
            <a:ext cx="1054800" cy="3486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주입기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495103" y="433207"/>
            <a:ext cx="2816931" cy="1557098"/>
          </a:xfrm>
          <a:prstGeom prst="roundRect">
            <a:avLst>
              <a:gd name="adj" fmla="val 5397"/>
            </a:avLst>
          </a:prstGeom>
          <a:noFill/>
          <a:ln w="15875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541283" y="516171"/>
            <a:ext cx="1155292" cy="986400"/>
          </a:xfrm>
          <a:prstGeom prst="roundRect">
            <a:avLst>
              <a:gd name="adj" fmla="val 5397"/>
            </a:avLst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2126005" y="516171"/>
            <a:ext cx="1155292" cy="986400"/>
          </a:xfrm>
          <a:prstGeom prst="roundRect">
            <a:avLst>
              <a:gd name="adj" fmla="val 5397"/>
            </a:avLst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왼쪽/위쪽 화살표 9"/>
          <p:cNvSpPr/>
          <p:nvPr/>
        </p:nvSpPr>
        <p:spPr>
          <a:xfrm>
            <a:off x="2461714" y="1481326"/>
            <a:ext cx="277243" cy="306680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/위쪽 화살표 10"/>
          <p:cNvSpPr/>
          <p:nvPr/>
        </p:nvSpPr>
        <p:spPr>
          <a:xfrm flipH="1">
            <a:off x="1092563" y="1483462"/>
            <a:ext cx="277200" cy="304544"/>
          </a:xfrm>
          <a:prstGeom prst="leftUpArrow">
            <a:avLst>
              <a:gd name="adj1" fmla="val 14006"/>
              <a:gd name="adj2" fmla="val 1898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왼쪽/오른쪽 화살표 11"/>
          <p:cNvSpPr/>
          <p:nvPr/>
        </p:nvSpPr>
        <p:spPr>
          <a:xfrm rot="5400000">
            <a:off x="1013309" y="958874"/>
            <a:ext cx="179866" cy="104013"/>
          </a:xfrm>
          <a:prstGeom prst="leftRightArrow">
            <a:avLst>
              <a:gd name="adj1" fmla="val 38658"/>
              <a:gd name="adj2" fmla="val 664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393168" y="1646520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Card1</a:t>
            </a:r>
            <a:endParaRPr lang="ko-KR" altLang="en-US" sz="5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2182474" y="1646819"/>
            <a:ext cx="245139" cy="18570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/>
            </a:r>
            <a:br>
              <a:rPr lang="en-US" altLang="ko-KR" sz="500" dirty="0" smtClean="0">
                <a:solidFill>
                  <a:schemeClr val="tx1"/>
                </a:solidFill>
              </a:rPr>
            </a:br>
            <a:r>
              <a:rPr lang="en-US" altLang="ko-KR" sz="500" dirty="0" smtClean="0">
                <a:solidFill>
                  <a:schemeClr val="tx1"/>
                </a:solidFill>
              </a:rPr>
              <a:t>Card2</a:t>
            </a:r>
            <a:endParaRPr lang="ko-KR" altLang="en-US" sz="500" dirty="0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860862" y="830717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860862" y="1389968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2183834" y="1116430"/>
            <a:ext cx="1054800" cy="3492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배출기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176434" y="557885"/>
            <a:ext cx="1054800" cy="348600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주입기</a:t>
            </a:r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왼쪽/오른쪽 화살표 18"/>
          <p:cNvSpPr/>
          <p:nvPr/>
        </p:nvSpPr>
        <p:spPr>
          <a:xfrm rot="5400000">
            <a:off x="2604345" y="960843"/>
            <a:ext cx="179866" cy="104013"/>
          </a:xfrm>
          <a:prstGeom prst="leftRightArrow">
            <a:avLst>
              <a:gd name="adj1" fmla="val 38658"/>
              <a:gd name="adj2" fmla="val 664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2451898" y="832686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2451898" y="1391937"/>
            <a:ext cx="484012" cy="637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00" dirty="0" err="1" smtClean="0">
                <a:solidFill>
                  <a:schemeClr val="tx1"/>
                </a:solidFill>
              </a:rPr>
              <a:t>Mnet</a:t>
            </a:r>
            <a:r>
              <a:rPr lang="en-US" altLang="ko-KR" sz="500" dirty="0" smtClean="0">
                <a:solidFill>
                  <a:schemeClr val="tx1"/>
                </a:solidFill>
              </a:rPr>
              <a:t> Card</a:t>
            </a:r>
            <a:endParaRPr lang="ko-KR" altLang="en-US" sz="500" dirty="0"/>
          </a:p>
        </p:txBody>
      </p:sp>
      <p:sp>
        <p:nvSpPr>
          <p:cNvPr id="22" name="TextBox 21"/>
          <p:cNvSpPr txBox="1"/>
          <p:nvPr/>
        </p:nvSpPr>
        <p:spPr>
          <a:xfrm>
            <a:off x="1718241" y="1523647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3" name="TextBox 22"/>
          <p:cNvSpPr txBox="1"/>
          <p:nvPr/>
        </p:nvSpPr>
        <p:spPr>
          <a:xfrm>
            <a:off x="878083" y="521768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4" name="TextBox 23"/>
          <p:cNvSpPr txBox="1"/>
          <p:nvPr/>
        </p:nvSpPr>
        <p:spPr>
          <a:xfrm>
            <a:off x="2465445" y="514587"/>
            <a:ext cx="4764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smtClean="0"/>
              <a:t>CONTROL</a:t>
            </a:r>
            <a:endParaRPr lang="ko-KR" altLang="en-US" sz="500" dirty="0"/>
          </a:p>
        </p:txBody>
      </p:sp>
      <p:sp>
        <p:nvSpPr>
          <p:cNvPr id="25" name="TextBox 24"/>
          <p:cNvSpPr txBox="1"/>
          <p:nvPr/>
        </p:nvSpPr>
        <p:spPr>
          <a:xfrm>
            <a:off x="889805" y="1065544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6" name="TextBox 25"/>
          <p:cNvSpPr txBox="1"/>
          <p:nvPr/>
        </p:nvSpPr>
        <p:spPr>
          <a:xfrm>
            <a:off x="2469260" y="1072511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 smtClean="0"/>
              <a:t>NORMAL</a:t>
            </a:r>
            <a:endParaRPr lang="ko-KR" altLang="en-US" sz="500" dirty="0"/>
          </a:p>
        </p:txBody>
      </p:sp>
      <p:sp>
        <p:nvSpPr>
          <p:cNvPr id="27" name="TextBox 26"/>
          <p:cNvSpPr txBox="1"/>
          <p:nvPr/>
        </p:nvSpPr>
        <p:spPr>
          <a:xfrm>
            <a:off x="3363863" y="400786"/>
            <a:ext cx="8606843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/>
              <a:t>* Control PC</a:t>
            </a:r>
            <a:r>
              <a:rPr lang="ko-KR" altLang="en-US" sz="1100" b="1" smtClean="0"/>
              <a:t>가 </a:t>
            </a:r>
            <a:r>
              <a:rPr lang="en-US" altLang="ko-KR" sz="1100" b="1" smtClean="0"/>
              <a:t>EQ </a:t>
            </a:r>
            <a:r>
              <a:rPr lang="ko-KR" altLang="en-US" sz="1100" b="1" smtClean="0"/>
              <a:t>정보를 보고하는 </a:t>
            </a:r>
            <a:r>
              <a:rPr lang="en-US" altLang="ko-KR" sz="1100" b="1" smtClean="0"/>
              <a:t>Master PC </a:t>
            </a:r>
            <a:r>
              <a:rPr lang="ko-KR" altLang="en-US" sz="1100" b="1" smtClean="0"/>
              <a:t>이며 </a:t>
            </a:r>
            <a:r>
              <a:rPr lang="en-US" altLang="ko-KR" sz="1100" b="1" smtClean="0"/>
              <a:t>Normal PC</a:t>
            </a:r>
            <a:r>
              <a:rPr lang="ko-KR" altLang="en-US" sz="1100" b="1" smtClean="0"/>
              <a:t>의 정보를 취합하여 </a:t>
            </a:r>
            <a:r>
              <a:rPr lang="en-US" altLang="ko-KR" sz="1100" b="1" smtClean="0"/>
              <a:t>CIM PC</a:t>
            </a:r>
            <a:r>
              <a:rPr lang="ko-KR" altLang="en-US" sz="1100" b="1" smtClean="0"/>
              <a:t>에 보고하도록 함</a:t>
            </a:r>
            <a:r>
              <a:rPr lang="en-US" altLang="ko-KR" sz="1100" b="1" smtClean="0"/>
              <a:t>.</a:t>
            </a:r>
          </a:p>
          <a:p>
            <a:r>
              <a:rPr lang="en-US" altLang="ko-KR" sz="1100"/>
              <a:t> </a:t>
            </a:r>
            <a:r>
              <a:rPr lang="en-US" altLang="ko-KR" sz="1100" smtClean="0"/>
              <a:t>&lt; </a:t>
            </a:r>
            <a:r>
              <a:rPr lang="ko-KR" altLang="en-US" sz="1100" smtClean="0"/>
              <a:t>구성 동작</a:t>
            </a:r>
            <a:r>
              <a:rPr lang="en-US" altLang="ko-KR" sz="1100" smtClean="0"/>
              <a:t> </a:t>
            </a:r>
            <a:r>
              <a:rPr lang="ko-KR" altLang="en-US" sz="1100" smtClean="0"/>
              <a:t>예</a:t>
            </a:r>
            <a:r>
              <a:rPr lang="en-US" altLang="ko-KR" sz="1100" smtClean="0"/>
              <a:t> &gt;</a:t>
            </a:r>
          </a:p>
          <a:p>
            <a:r>
              <a:rPr lang="en-US" altLang="ko-KR" sz="1100"/>
              <a:t> </a:t>
            </a:r>
            <a:r>
              <a:rPr lang="en-US" altLang="ko-KR" sz="1100" smtClean="0"/>
              <a:t> 1) </a:t>
            </a:r>
            <a:r>
              <a:rPr lang="ko-KR" altLang="en-US" sz="1100" smtClean="0"/>
              <a:t>왼쪽 구성의 경우</a:t>
            </a:r>
            <a:r>
              <a:rPr lang="en-US" altLang="ko-KR" sz="1100" smtClean="0"/>
              <a:t>,</a:t>
            </a:r>
            <a:r>
              <a:rPr lang="ko-KR" altLang="en-US" sz="1100" smtClean="0"/>
              <a:t> 주입기 </a:t>
            </a:r>
            <a:r>
              <a:rPr lang="en-US" altLang="ko-KR" sz="1100" smtClean="0"/>
              <a:t>Control PC</a:t>
            </a:r>
            <a:r>
              <a:rPr lang="ko-KR" altLang="en-US" sz="1100" smtClean="0"/>
              <a:t>에서 </a:t>
            </a:r>
            <a:r>
              <a:rPr lang="en-US" altLang="ko-KR" sz="1100" smtClean="0"/>
              <a:t>CIM</a:t>
            </a:r>
            <a:r>
              <a:rPr lang="ko-KR" altLang="en-US" sz="1100" smtClean="0"/>
              <a:t>에 보고할 항목을 정리한 후 배출기에서 받아야 할 정보의 </a:t>
            </a:r>
            <a:r>
              <a:rPr lang="en-US" altLang="ko-KR" sz="1100" smtClean="0"/>
              <a:t>Address Map</a:t>
            </a:r>
            <a:r>
              <a:rPr lang="ko-KR" altLang="en-US" sz="1100" smtClean="0"/>
              <a:t>를 작성</a:t>
            </a:r>
            <a:r>
              <a:rPr lang="en-US" altLang="ko-KR" sz="1100" smtClean="0"/>
              <a:t>.</a:t>
            </a:r>
          </a:p>
          <a:p>
            <a:r>
              <a:rPr lang="en-US" altLang="ko-KR" sz="1100"/>
              <a:t> </a:t>
            </a:r>
            <a:r>
              <a:rPr lang="en-US" altLang="ko-KR" sz="1100" smtClean="0"/>
              <a:t> 2) </a:t>
            </a:r>
            <a:r>
              <a:rPr lang="ko-KR" altLang="en-US" sz="1100" smtClean="0"/>
              <a:t>배출기는 주입기에서 작성한 </a:t>
            </a:r>
            <a:r>
              <a:rPr lang="en-US" altLang="ko-KR" sz="1100" smtClean="0"/>
              <a:t>Address Map</a:t>
            </a:r>
            <a:r>
              <a:rPr lang="ko-KR" altLang="en-US" sz="1100" smtClean="0"/>
              <a:t>에 해당 정보를 보고</a:t>
            </a:r>
            <a:r>
              <a:rPr lang="en-US" altLang="ko-KR" sz="1100" smtClean="0"/>
              <a:t>.</a:t>
            </a:r>
          </a:p>
          <a:p>
            <a:r>
              <a:rPr lang="en-US" altLang="ko-KR" sz="1100"/>
              <a:t> </a:t>
            </a:r>
            <a:r>
              <a:rPr lang="en-US" altLang="ko-KR" sz="1100" smtClean="0"/>
              <a:t> 3) </a:t>
            </a:r>
            <a:r>
              <a:rPr lang="ko-KR" altLang="en-US" sz="1100" smtClean="0"/>
              <a:t>주입기는 보고 받은 정보를 취합하여 </a:t>
            </a:r>
            <a:r>
              <a:rPr lang="en-US" altLang="ko-KR" sz="1100" smtClean="0"/>
              <a:t>CIM </a:t>
            </a:r>
            <a:r>
              <a:rPr lang="ko-KR" altLang="en-US" sz="1100" smtClean="0"/>
              <a:t>정보 영역에 병합하여 보고 함</a:t>
            </a:r>
            <a:r>
              <a:rPr lang="en-US" altLang="ko-KR" sz="1100" smtClean="0"/>
              <a:t>. </a:t>
            </a:r>
          </a:p>
          <a:p>
            <a:endParaRPr lang="en-US" altLang="ko-KR" sz="1100"/>
          </a:p>
          <a:p>
            <a:r>
              <a:rPr lang="en-US" altLang="ko-KR" sz="1100" smtClean="0"/>
              <a:t> </a:t>
            </a:r>
            <a:r>
              <a:rPr lang="ko-KR" altLang="en-US" sz="1100" smtClean="0"/>
              <a:t>주의</a:t>
            </a:r>
            <a:r>
              <a:rPr lang="en-US" altLang="ko-KR" sz="1100" smtClean="0"/>
              <a:t>&gt; MC</a:t>
            </a:r>
            <a:r>
              <a:rPr lang="ko-KR" altLang="en-US" sz="1100" smtClean="0"/>
              <a:t>는 </a:t>
            </a:r>
            <a:r>
              <a:rPr lang="en-US" altLang="ko-KR" sz="1100" smtClean="0"/>
              <a:t>2</a:t>
            </a:r>
            <a:r>
              <a:rPr lang="ko-KR" altLang="en-US" sz="1100" smtClean="0"/>
              <a:t>개이나 </a:t>
            </a:r>
            <a:r>
              <a:rPr lang="en-US" altLang="ko-KR" sz="1100" smtClean="0"/>
              <a:t>CIM</a:t>
            </a:r>
            <a:r>
              <a:rPr lang="ko-KR" altLang="en-US" sz="1100" smtClean="0"/>
              <a:t>에서는 하나의 </a:t>
            </a:r>
            <a:r>
              <a:rPr lang="en-US" altLang="ko-KR" sz="1100" smtClean="0"/>
              <a:t>EQ</a:t>
            </a:r>
            <a:r>
              <a:rPr lang="ko-KR" altLang="en-US" sz="1100" smtClean="0"/>
              <a:t>로 보고함으로 장비 상태나 여타 보고는 </a:t>
            </a:r>
            <a:r>
              <a:rPr lang="en-US" altLang="ko-KR" sz="1100" smtClean="0"/>
              <a:t>Control PC </a:t>
            </a:r>
            <a:r>
              <a:rPr lang="ko-KR" altLang="en-US" sz="1100" smtClean="0"/>
              <a:t>에서 취합하여 하나의 </a:t>
            </a:r>
            <a:r>
              <a:rPr lang="en-US" altLang="ko-KR" sz="1100" smtClean="0"/>
              <a:t>EQ</a:t>
            </a:r>
            <a:r>
              <a:rPr lang="ko-KR" altLang="en-US" sz="1100" smtClean="0"/>
              <a:t>로 보고 함</a:t>
            </a:r>
            <a:r>
              <a:rPr lang="en-US" altLang="ko-KR" sz="1100" smtClean="0"/>
              <a:t>.</a:t>
            </a:r>
            <a:br>
              <a:rPr lang="en-US" altLang="ko-KR" sz="1100" smtClean="0"/>
            </a:br>
            <a:r>
              <a:rPr lang="en-US" altLang="ko-KR" sz="1100" smtClean="0"/>
              <a:t>  Ex)</a:t>
            </a:r>
            <a:r>
              <a:rPr lang="ko-KR" altLang="en-US" sz="1100" smtClean="0"/>
              <a:t> 장비 구성에 따라 주입기에서 알람 발생 시 </a:t>
            </a:r>
            <a:r>
              <a:rPr lang="en-US" altLang="ko-KR" sz="1100" smtClean="0"/>
              <a:t>CIM</a:t>
            </a:r>
            <a:r>
              <a:rPr lang="ko-KR" altLang="en-US" sz="1100" smtClean="0"/>
              <a:t>에는 경알람으로 보고</a:t>
            </a:r>
            <a:r>
              <a:rPr lang="en-US" altLang="ko-KR" sz="1100" smtClean="0"/>
              <a:t>, </a:t>
            </a:r>
            <a:r>
              <a:rPr lang="ko-KR" altLang="en-US" sz="1100" smtClean="0"/>
              <a:t>배출기에서 알람 발생 시 중알람으로 보고 함</a:t>
            </a:r>
            <a:r>
              <a:rPr lang="en-US" altLang="ko-KR" sz="1100" smtClean="0"/>
              <a:t>.</a:t>
            </a:r>
            <a:br>
              <a:rPr lang="en-US" altLang="ko-KR" sz="1100" smtClean="0"/>
            </a:br>
            <a:r>
              <a:rPr lang="en-US" altLang="ko-KR" sz="1100" smtClean="0"/>
              <a:t>      : </a:t>
            </a:r>
            <a:r>
              <a:rPr lang="ko-KR" altLang="en-US" sz="1100" smtClean="0"/>
              <a:t>주입기가 알람 발생할 경우 물류는 정상 진행해야 하므로 경알람</a:t>
            </a:r>
            <a:r>
              <a:rPr lang="en-US" altLang="ko-KR" sz="1100" smtClean="0"/>
              <a:t>, </a:t>
            </a:r>
            <a:r>
              <a:rPr lang="ko-KR" altLang="en-US" sz="1100" smtClean="0"/>
              <a:t>배출기 알람 발생 시 물류가 정지되므로 중알람</a:t>
            </a:r>
            <a:r>
              <a:rPr lang="en-US" altLang="ko-KR" sz="1100" smtClean="0"/>
              <a:t>.</a:t>
            </a:r>
            <a:br>
              <a:rPr lang="en-US" altLang="ko-KR" sz="1100" smtClean="0"/>
            </a:br>
            <a:r>
              <a:rPr lang="en-US" altLang="ko-KR" sz="1100" smtClean="0"/>
              <a:t>       </a:t>
            </a:r>
            <a:r>
              <a:rPr lang="ko-KR" altLang="en-US" sz="1100" smtClean="0"/>
              <a:t>위와 같이 알람 보고 영역에 </a:t>
            </a:r>
            <a:r>
              <a:rPr lang="en-US" altLang="ko-KR" sz="1100" smtClean="0"/>
              <a:t>Contol PC</a:t>
            </a:r>
            <a:r>
              <a:rPr lang="ko-KR" altLang="en-US" sz="1100" smtClean="0"/>
              <a:t>가 자신의 알람과 보고 받은 </a:t>
            </a:r>
            <a:r>
              <a:rPr lang="en-US" altLang="ko-KR" sz="1100" smtClean="0"/>
              <a:t>Normal PC</a:t>
            </a:r>
            <a:r>
              <a:rPr lang="ko-KR" altLang="en-US" sz="1100" smtClean="0"/>
              <a:t>의 정보를 받아 </a:t>
            </a:r>
            <a:r>
              <a:rPr lang="en-US" altLang="ko-KR" sz="1100" smtClean="0"/>
              <a:t>CIM</a:t>
            </a:r>
            <a:r>
              <a:rPr lang="ko-KR" altLang="en-US" sz="1100" smtClean="0"/>
              <a:t>에 보고하여야 함</a:t>
            </a:r>
            <a:r>
              <a:rPr lang="en-US" altLang="ko-KR" sz="1100" smtClean="0"/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38" y="2414556"/>
            <a:ext cx="682430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mtClean="0"/>
              <a:t>* MCC </a:t>
            </a:r>
            <a:r>
              <a:rPr lang="ko-KR" altLang="en-US" sz="1200" b="1" smtClean="0"/>
              <a:t>보고 관련 내용</a:t>
            </a:r>
            <a:r>
              <a:rPr lang="en-US" altLang="ko-KR" sz="1200" b="1" smtClean="0"/>
              <a:t/>
            </a:r>
            <a:br>
              <a:rPr lang="en-US" altLang="ko-KR" sz="1200" b="1" smtClean="0"/>
            </a:br>
            <a:endParaRPr lang="en-US" altLang="ko-KR" sz="500" b="1" smtClean="0"/>
          </a:p>
          <a:p>
            <a:r>
              <a:rPr lang="en-US" altLang="ko-KR" sz="1100" smtClean="0"/>
              <a:t>  - MCC</a:t>
            </a:r>
            <a:r>
              <a:rPr lang="ko-KR" altLang="en-US" sz="1100" smtClean="0"/>
              <a:t>의 보고용 </a:t>
            </a:r>
            <a:r>
              <a:rPr lang="en-US" altLang="ko-KR" sz="1100" smtClean="0"/>
              <a:t>csv File</a:t>
            </a:r>
            <a:r>
              <a:rPr lang="ko-KR" altLang="en-US" sz="1100" smtClean="0"/>
              <a:t>은 내재화 </a:t>
            </a:r>
            <a:r>
              <a:rPr lang="en-US" altLang="ko-KR" sz="1100" smtClean="0"/>
              <a:t>CIM </a:t>
            </a:r>
            <a:r>
              <a:rPr lang="ko-KR" altLang="en-US" sz="1100" smtClean="0"/>
              <a:t>프로그램에서 </a:t>
            </a:r>
            <a:r>
              <a:rPr lang="en-US" altLang="ko-KR" sz="1100" smtClean="0"/>
              <a:t>EQ</a:t>
            </a:r>
            <a:r>
              <a:rPr lang="ko-KR" altLang="en-US" sz="1100"/>
              <a:t> </a:t>
            </a:r>
            <a:r>
              <a:rPr lang="en-US" altLang="ko-KR" sz="1100" smtClean="0"/>
              <a:t>PC</a:t>
            </a:r>
            <a:r>
              <a:rPr lang="ko-KR" altLang="en-US" sz="1100" smtClean="0"/>
              <a:t>에서 받은 정보로 생성하여 상부로 보고</a:t>
            </a:r>
            <a:r>
              <a:rPr lang="en-US" altLang="ko-KR" sz="1100"/>
              <a:t> </a:t>
            </a:r>
            <a:r>
              <a:rPr lang="ko-KR" altLang="en-US" sz="1100" smtClean="0"/>
              <a:t>함</a:t>
            </a:r>
            <a:r>
              <a:rPr lang="en-US" altLang="ko-KR" sz="1100" smtClean="0"/>
              <a:t>.</a:t>
            </a:r>
          </a:p>
          <a:p>
            <a:r>
              <a:rPr lang="en-US" altLang="ko-KR" sz="1100" smtClean="0"/>
              <a:t>   : EQ </a:t>
            </a:r>
            <a:r>
              <a:rPr lang="ko-KR" altLang="en-US" sz="1100" smtClean="0"/>
              <a:t>에서는 </a:t>
            </a:r>
            <a:r>
              <a:rPr lang="en-US" altLang="ko-KR" sz="1100" smtClean="0"/>
              <a:t>MCC Master List </a:t>
            </a:r>
            <a:r>
              <a:rPr lang="ko-KR" altLang="en-US" sz="1100" smtClean="0"/>
              <a:t>목록과 </a:t>
            </a:r>
            <a:r>
              <a:rPr lang="en-US" altLang="ko-KR" sz="1100" smtClean="0"/>
              <a:t>Address </a:t>
            </a:r>
            <a:r>
              <a:rPr lang="ko-KR" altLang="en-US" sz="1100" smtClean="0"/>
              <a:t>정보를 작성하여 </a:t>
            </a:r>
            <a:r>
              <a:rPr lang="en-US" altLang="ko-KR" sz="1100" smtClean="0"/>
              <a:t>CIM </a:t>
            </a:r>
            <a:r>
              <a:rPr lang="ko-KR" altLang="en-US" sz="1100" smtClean="0"/>
              <a:t>업체 측에 공유</a:t>
            </a:r>
            <a:r>
              <a:rPr lang="en-US" altLang="ko-KR" sz="1100" smtClean="0"/>
              <a:t>.</a:t>
            </a:r>
          </a:p>
          <a:p>
            <a:r>
              <a:rPr lang="en-US" altLang="ko-KR" sz="1100"/>
              <a:t> </a:t>
            </a:r>
            <a:r>
              <a:rPr lang="en-US" altLang="ko-KR" sz="1100" smtClean="0"/>
              <a:t>  : EQ</a:t>
            </a:r>
            <a:r>
              <a:rPr lang="ko-KR" altLang="en-US" sz="1100"/>
              <a:t> </a:t>
            </a:r>
            <a:r>
              <a:rPr lang="ko-KR" altLang="en-US" sz="1100" smtClean="0"/>
              <a:t>에서는 </a:t>
            </a:r>
            <a:r>
              <a:rPr lang="en-US" altLang="ko-KR" sz="1100" smtClean="0"/>
              <a:t>MCC Master List</a:t>
            </a:r>
            <a:r>
              <a:rPr lang="ko-KR" altLang="en-US" sz="1100"/>
              <a:t> </a:t>
            </a:r>
            <a:r>
              <a:rPr lang="ko-KR" altLang="en-US" sz="1100" smtClean="0"/>
              <a:t>에 맞게 해당 </a:t>
            </a:r>
            <a:r>
              <a:rPr lang="en-US" altLang="ko-KR" sz="1100" smtClean="0"/>
              <a:t>Address</a:t>
            </a:r>
            <a:r>
              <a:rPr lang="ko-KR" altLang="en-US" sz="1100" smtClean="0"/>
              <a:t>에 장비 실시간 동작에 맞는 정보를 갱시하여 보고</a:t>
            </a:r>
            <a:r>
              <a:rPr lang="en-US" altLang="ko-KR" sz="110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1689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5319</TotalTime>
  <Words>743</Words>
  <Application>Microsoft Office PowerPoint</Application>
  <PresentationFormat>와이드스크린</PresentationFormat>
  <Paragraphs>188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Noto Sans KR</vt:lpstr>
      <vt:lpstr>Arial</vt:lpstr>
      <vt:lpstr>맑은 고딕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jskil</dc:creator>
  <cp:lastModifiedBy>jskil</cp:lastModifiedBy>
  <cp:revision>51</cp:revision>
  <cp:lastPrinted>2026-01-08T08:00:23Z</cp:lastPrinted>
  <dcterms:created xsi:type="dcterms:W3CDTF">2025-12-23T06:19:02Z</dcterms:created>
  <dcterms:modified xsi:type="dcterms:W3CDTF">2026-01-09T10:29:04Z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DEtMDJUMDc6Mjg6NTVaIiwicElEIjoyMDQ4LCJ0cmFjZUlkIjoiMEI4NTgwNTQzREU4NEQxNTlEMTdCRDMxNzVGMjhBN0IiLCJ1c2VyQ29kZSI6Impza2lsQHRvcGVuZ25ldC5jb20ifSwibm9kZTIiOnsiZHNkIjoiMDEwMDAwMDAwMDAwMjQwMyIsImxvZ1RpbWUiOiIyMDI2LTAxLTA4VDA2OjUxOjU1WiIsInBJRCI6MSwidHJhY2VJZCI6IjRFMDVEQUUxMzg1ODRGQkU5RUZBQzNDMTQ0ODBBQjFFIiwidXNlckNvZGUiOiJqc2tpbEB0b3BlbmduZXQuY29tIn0sIm5vZGUzIjp7ImRzZCI6IjAwMDAwMDAwMDAwMDAwMDAiLCJsb2dUaW1lIjoiMjAyNi0wMS0wOFQwNjo1MjowNFoiLCJwSUQiOjIwNDgsInRyYWNlSWQiOiI0RDdCMDNGRDE5M0U0RjVGOTRBNTExQUEyOUE4MjkwOSIsInVzZXJDb2RlIjoianNraWxAdG9wZW5nbmV0LmNvbSJ9LCJub2RlNCI6eyJkc2QiOiIwMTAwMDAwMDAwMDAyNDAzIiwibG9nVGltZSI6IjIwMjYtMDEtMDhUMDc6NDc6MTJaIiwicElEIjoxLCJ0cmFjZUlkIjoiNTlCQTk5NTA5OUNCNEU1REFDMEJDMjRCOEM2OURCNzkiLCJ1c2VyQ29kZSI6Impza2lsQHRvcGVuZ25ldC5jb20ifSwibm9kZTUiOnsiZHNkIjoiMDAwMDAwMDAwMDAwMDAwMCIsImxvZ1RpbWUiOiIyMDI2LTAxLTA5VDEwOjI5OjE0WiIsInBJRCI6MjA0OCwidHJhY2VJZCI6IjMyODE1NTg5N0MzMDRFNzc5NkY4Nzg1ODJGQ0JFRjA5IiwidXNlckNvZGUiOiJqc2tpbEB0b3BlbmduZXQuY29tIn0sIm5vZGVDb3VudCI6Nn0=</vt:lpwstr>
  </property>
</Properties>
</file>